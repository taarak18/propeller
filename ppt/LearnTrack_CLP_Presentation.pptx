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AC617-6F50-4F75-AB86-9AAF69859C5A}" type="datetimeFigureOut"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FC3FF2-D375-49C3-A284-4DD8CA279A7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90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32704" y="822960"/>
            <a:ext cx="914400" cy="914400"/>
          </a:xfrm>
          <a:prstGeom prst="roundRect">
            <a:avLst>
              <a:gd name="adj" fmla="val 15000"/>
            </a:avLst>
          </a:prstGeom>
          <a:solidFill>
            <a:srgbClr val="2A3F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32704" y="822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LearnTrack </a:t>
            </a: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CLP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71600" y="2971800"/>
            <a:ext cx="94457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Learning Progress, Intervention &amp; Compliance Tracking System — SME Demo &amp; Training Overview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54480" y="4023360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4023360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Multi-Tenant SaaS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85032" y="402336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4023360"/>
            <a:ext cx="1444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Event-Driven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66944" y="4023360"/>
            <a:ext cx="299923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4023360"/>
            <a:ext cx="2999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🛡️ GDPR / CCPA / DPDP / PIPEDA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03336" y="4023360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402336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AWS · Kubernetes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442448" y="4023360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42448" y="4023360"/>
            <a:ext cx="1170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POC Live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for SME Team · Demo &amp; Training Session · v2.0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Agenda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 in this session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07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platform exists and what pain it solves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34256" y="1143000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1307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74336" y="1280160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74336" y="1691640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LearnTrack CLP does and how it delivers 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11312" y="1143000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5904" y="13075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1307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51392" y="1280160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51392" y="1691640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microservices, Kafka event bus, multi-tenancy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862072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30266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97280" y="2999232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Value Chain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410712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 → Profile → Risk → Intervention → Report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34256" y="2862072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98848" y="30266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74336" y="2999232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 &amp; Human-Review Gate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74336" y="3410712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 classification &amp; GDPR Art.22 compliance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11312" y="2862072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75904" y="302666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75904" y="3026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51392" y="2999232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Lifecycle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851392" y="3410712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machine: Recommended → Active → Completed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581144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" y="4745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745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7280" y="4718304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&amp; Compliance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97280" y="5129784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Opt-out, Right-to-Erasure, pseudonymisation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34256" y="4581144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98848" y="4745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98848" y="4745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74336" y="4718304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Roles &amp; Dashboards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74336" y="5129784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Trainer, L&amp;D Admin, L&amp;D Manager, Employee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211312" y="4581144"/>
            <a:ext cx="3712464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75904" y="47457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75904" y="4745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851392" y="4718304"/>
            <a:ext cx="2935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Stack, Plans &amp; Roadmap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851392" y="5129784"/>
            <a:ext cx="293522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Infrastructure, subscription tiers, delivery phases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The Problem We're Solving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fragmented L&amp;D data is a compliance and business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2377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FRAGMENTED LEARNING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attendance lives in the LMS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scores are in a separate system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Competency milestones are tracked in spreadsheets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single view of an employee's learning health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11880"/>
            <a:ext cx="54864" cy="2377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7216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🟡 REACTIVE — NOT PROACTIVE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507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At-risk employees identified only after compliance failure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early-warning mechanism (4–6 weeks too late)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Interventions are ad hoc, not tracked systematically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measurable outcome recording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097280"/>
            <a:ext cx="54864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🔵 COMPLIANCE REPORTING BURDEN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5361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report assembly for GDPR, CCPA, DPDP, PIPEDA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audit trail for automated profiling decisions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consent management — legal exposure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Right-to-erasure requests handled manually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3611880"/>
            <a:ext cx="5577840" cy="2377440"/>
          </a:xfrm>
          <a:prstGeom prst="roundRect">
            <a:avLst>
              <a:gd name="adj" fmla="val 3846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611880"/>
            <a:ext cx="54864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74904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cost: </a:t>
            </a:r>
            <a:r>
              <a:rPr lang="en-US" sz="1300" i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Organisations lose 4–6 weeks of remediation time, face regulatory fines, and cannot prove due diligence when an employee fails certification — all because their L&amp;D data is siloed.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70332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Solution — What LearnTrack CLP 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lightweight aggregation, analytics and workflow SaaS layer on top of existing systems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640080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30175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070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FULL LMS — A SMART L&amp;D INTELLIGENCE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6108192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Consolidates attendance, scores &amp; milestones from any existing LMS / HRIS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Builds a unified, curated learning profile per employee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Configurable rule engine detects at-risk learners automatically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Manages the full intervention lifecycle with SLA tracking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Produces compliance-ready reports with a full audit trail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Handles consent, opt-out and right-to-erasure across all regions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480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4–6wk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94360" y="5257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Earlier at-risk detection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429768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4480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834640" y="5257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improvement target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4297680"/>
            <a:ext cx="21031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48056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+25%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074920" y="5257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completion YoY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097280"/>
            <a:ext cx="4709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0" y="1097280"/>
            <a:ext cx="54864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20700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WHO USES 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223760" y="1536192"/>
            <a:ext cx="4416552" cy="1161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Corporates (L&amp;D, HR, Compliance)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Regulated Industries (BFSI, Pharma, Manufacturing)</a:t>
            </a:r>
            <a:endParaRPr lang="en-US" sz="10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Training Providers (Multi-client)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2926080"/>
            <a:ext cx="47091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2926080"/>
            <a:ext cx="54864" cy="30175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303580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🌍 DELIVERED AS SAAS — MULTI-TENANT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23760" y="3364992"/>
            <a:ext cx="4416552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New organisation live in &lt; 5 minutes (automated provisioning)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Starter · Pro · Enterprise subscription tiers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AWS primary — cloud-agnostic abstractions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99.5% – 99.9% SLA depending on plan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System Architecture — 6 Microservices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service owns its database; all cross-service communication flows through Kafka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694944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280160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8016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Apache Kafka (Event Bus) — Tenant-Scoped Topics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Ingestion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8081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920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Profile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8082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920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057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Risk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2468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8083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063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DE9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200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Intervention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11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8084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0360" y="3063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FFF1F2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3200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Consent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3611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8085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20640" y="3063240"/>
            <a:ext cx="210312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3200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3611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8086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2976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0FDF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389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🐘 PostgreSQL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Schema-per-service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80360" y="42976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0FDF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4389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🚦 Redis Cache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ctx · Rules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20640" y="429768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0FDFA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4389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⚛️ React Frontend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ld-insights app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89520" y="1097280"/>
            <a:ext cx="41605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1097280"/>
            <a:ext cx="54864" cy="2560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54112" y="120700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ARCHITECTURE DECISIONS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0" y="1536192"/>
            <a:ext cx="3867912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Schema-per-service isolation (no cross-schema reads)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Transactional Outbox + CDC for exactly-once delivery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Multi-tenant via tenant_id on every DB row &amp; Kafka event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Human-review gate on automated profiling (GDPR Art.22)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Temporal workflows for durable saga orchestration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89520" y="3749040"/>
            <a:ext cx="4160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3749040"/>
            <a:ext cx="54864" cy="2286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54112" y="38587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SIMPLIFICATIONS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0" y="4187952"/>
            <a:ext cx="3867912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Outbox + poller → Production: Debezium CDC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In-service state machine → Production: Temporal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 HS256 JWT → Production: Kong/JWKS/SSO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DB (schemas) → Production: DB-per-service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⛓️ The Core Value Chain — End-to-End Event Flow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training data flows automatically through the pipeline to insights and 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928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LMS / HRIS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Data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/ingest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Ingestion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&amp; Stage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862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data.ingested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519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Profile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519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Aggregate Metrics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150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profile.updated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807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Risk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Rules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438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risk.detected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9095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Intervention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Auto-Recommend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372600" y="251460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intervention.assigned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738360" y="1371600"/>
            <a:ext cx="1691640" cy="1097280"/>
          </a:xfrm>
          <a:prstGeom prst="roundRect">
            <a:avLst>
              <a:gd name="adj" fmla="val 5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141732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738360" y="1828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Aggregates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9260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035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📥 INGESTION SERVICE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36499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Accepts training attendance, assessment scores, milestones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Idempotent — Idempotency-Key prevents duplicates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Publishes data.ingested via Outbox → Kafka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5262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526280"/>
            <a:ext cx="54864" cy="1463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PROFILE SERVICE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96519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Builds curated employee learning profile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Computes: Attendance %, Avg Score, Score Trend, Milestone %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Publishes profile.updated snapshot to Kafka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29260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2926080"/>
            <a:ext cx="54864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30358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RISK ENGINE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336499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Evaluates configurable JSON rules against profile snapshot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Classifies: Critical / High / Medium / Low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Critical &amp; High → human-review gate (GDPR Art.22)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45262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4526280"/>
            <a:ext cx="54864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REPORTING SERVICE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496519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CDC-fed read model (no polling — always fresh)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Consumes all domain events to build aggregates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Dashboard KPIs + compliance report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Risk Engine &amp; Human-Review Gate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rule-based classification with mandatory human oversight for GDPR Article 22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6235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2560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SCORING &amp; CLASSIFICATION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6002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9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0" y="1691640"/>
            <a:ext cx="31089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691640"/>
            <a:ext cx="2798064" cy="1188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6002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85+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0574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574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0" y="2148840"/>
            <a:ext cx="31089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0" y="2148840"/>
            <a:ext cx="2238451" cy="1188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0574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65–84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5146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828800" y="2606040"/>
            <a:ext cx="31089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2606040"/>
            <a:ext cx="1492301" cy="1188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5146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40–64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29718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97180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0" y="3063240"/>
            <a:ext cx="31089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0" y="3063240"/>
            <a:ext cx="777240" cy="1188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9718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40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56235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94760"/>
            <a:ext cx="54864" cy="22402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390448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RULE EXAMPLE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160520"/>
            <a:ext cx="5303520" cy="178308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20624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"operator": "AND",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"criteria":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"metric": "training_attendance_percentage",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"operator": "less_than", "value": 80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"metric": "competency_average_score",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"operator": "less_than", "value": 65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109728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1097280"/>
            <a:ext cx="54864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1207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HUMAN-REVIEW GATE (GDPR ART.22)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1536192"/>
            <a:ext cx="5193792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All CRITICAL &amp; HIGH assessments flagged requiresHumanReview = true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Employee is NOT notified until a Trainer/L&amp;D Manager reviews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Reviewer must: Confirm, Override, or Dismiss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Decision + reviewer identity logged to immutable audit trail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48-hour SLA — Temporal timer escalates to L&amp;D Admin if breached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306324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3063240"/>
            <a:ext cx="54864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317296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OPT-OUT INTEGRATION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3502152"/>
            <a:ext cx="5193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Employee withdraws risk_profiling consent via Settings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consent.withdrawn event → Risk Engine skips assessments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Employee drops off the at-risk list immediately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Pseudonymised as REDACTED-… in compliance reports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47548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48646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240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RULE MANAGEMENT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46520" y="5193792"/>
            <a:ext cx="51937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L&amp;D Admins create rules via UI → test on sample profiles → activate. Redis cache invalidated instantly. Available metrics: attendance %, avg score, score trend, milestone completion %, days since progress.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Intervention Lifecycle — State Machine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auto-recommendation to outcome measurement — fully tracked with SLA enforcement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1292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STATE MACHINE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RECOMMENDED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Auto-created by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06040" y="155448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8892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⏳ PENDING_APPROVAL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Awaiting L&amp;D Manager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3776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 ACTIVE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in progress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03720" y="155448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08660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COMPLETED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 recorded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52560" y="155448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235440" y="15544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16276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EVALUATED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35440" y="201168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Effectiveness measured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26060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PENDING_APPROVAL exceeds 48h → ESCALATED (Temporal timer)   |   ACTIVE can move to CANCELLED if dismissed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108960"/>
            <a:ext cx="54864" cy="12801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3218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TYPES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547872"/>
            <a:ext cx="5285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Remedial Training  ·  1:1 Coaching  ·  Group Mentoring  ·  Self-paced Module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526280"/>
            <a:ext cx="54864" cy="1508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4636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DOES WHAT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965192"/>
            <a:ext cx="5285232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Trainer: Creates intervention, logs sessions, marks complete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L&amp;D Manager: Approves or rejects, reviews escalations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Employee: Notified after review, sees schedule &amp; notes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10896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108960"/>
            <a:ext cx="54864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3218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 MEASUREMENT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3547872"/>
            <a:ext cx="528523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Pre-intervention competency score recorded at creation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Post-intervention score recorded at completion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System calculates improvement % automatically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intervention.completed event → Risk Engine re-evaluates employee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466344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4663440"/>
            <a:ext cx="54864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47731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&amp; ESCALATION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5102352"/>
            <a:ext cx="528523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48-hour approval SLA enforced via Temporal timer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SLA breach → intervention.escalated event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L&amp;D Admin alerted immediately for Critical cases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Escalations visible in L&amp;D Manager Escalation Queue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Consent Management &amp; Compliance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privacy compliance across GDPR, CCPA, DPDP and PIPEDA from day 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🇪🇺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GDPR / UK GDPR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48132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Art.22 human-review gate, Right-to-Erasure (Art.17), consent &amp; opt-out, DPA signing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143000" y="2084832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08483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27048" y="2084832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7048" y="208483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UK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83280" y="109728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🇺🇸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069080" y="12070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CCPA / CPRA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9080" y="148132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Automated-profiling opt-out, right-to-delete, SOC 2 Type II controls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069080" y="2084832"/>
            <a:ext cx="310896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2084832"/>
            <a:ext cx="310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453128" y="2084832"/>
            <a:ext cx="457200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3128" y="208483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🇮🇳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43000" y="2624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DPDP Act 2023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28986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obligations, erasure rights, data residency pinning to ap-south-1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43000" y="3502152"/>
            <a:ext cx="530352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350215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83280" y="2514600"/>
            <a:ext cx="27889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🇨🇦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069080" y="2624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PIPEDA / Québec Law 25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69080" y="2898648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consent, algorithmic transparency, enhanced rights for Québec residents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069080" y="3502152"/>
            <a:ext cx="603504" cy="201168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69080" y="3502152"/>
            <a:ext cx="603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Canada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72200" y="109728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1097280"/>
            <a:ext cx="54864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PURPOSES MANAGED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1536192"/>
            <a:ext cx="52852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risk_profiling   ·   anonymised_benchmarking   ·   ml_scoring   ·   trainer_notes   ·   third_party_sharing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214884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2148840"/>
            <a:ext cx="54864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22585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🗑️ RIGHT-TO-ERASURE SAGA (TEMPORAL)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55080" y="2587752"/>
            <a:ext cx="52852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Employee submits erasure request via self-service portal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Temporal saga anonymises PII across all 6 services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Pseudonymises employee in all generated reports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Audit log entries retained (legally required) but de-linked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Signed deletion certificate generated and emailed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Target completion: 72 hours (regulated max: 30 days)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72200" y="438912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72200" y="4389120"/>
            <a:ext cx="54864" cy="1645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44988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TRAIL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4828032"/>
            <a:ext cx="5285232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Hash-chained audit log stored in S3 with Object Lock (WORM). Every consent decision, review action, and erasure event is tamper-proof. Full traceability for regulatory inspection.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User Roles &amp; Role-Based Dashboards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role sees exactly the data and actions they need — nothing more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21031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🧑‍🏫 TRAINER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52852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at-risk summary (live WebSocket updates)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Pending human-review queue (GDPR gate)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learning profiles: attendance, scores, milestones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interventions &amp; session logging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Competency performance charts (by module)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337560"/>
            <a:ext cx="54864" cy="2103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4472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L&amp;D ADMINISTRATOR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76472"/>
            <a:ext cx="52852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Org-wide KPIs: Compliance %, at-risk count, attendance trend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distribution donut chart (Critical/High/Medium/Low)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calendar — upcoming regulatory deadlines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coverage &amp; erasure request tracking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management &amp; report generation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097280"/>
            <a:ext cx="54864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L&amp;D MANAGER DASHBOARD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536192"/>
            <a:ext cx="52852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caseload &amp; approval queue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calendar — weekly schedule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Escalation queue (SLA-breached interventions)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Effectiveness summary: avg improvement % by type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/ Reject with full employee risk profile context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333756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337560"/>
            <a:ext cx="54864" cy="21031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34472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🙋 EMPLOYEE SELF-SERVICE PORTAL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3776472"/>
            <a:ext cx="5285232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 training attendance summary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Assessment scores &amp; competency milestone progress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interventions: schedule &amp; trainer notes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Preferences: manage consents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data erasure &amp; download deletion certificate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5577840"/>
            <a:ext cx="1129284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577840"/>
            <a:ext cx="54864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2.1 AA — </a:t>
            </a:r>
            <a:r>
              <a:rPr lang="en-US" sz="1100" i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portals are accessible: keyboard navigable, screen-reader compatible, colour-blind safe badges (colour + icon + text), ARIA live regions for at-risk alerts.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POC Demo — Live Stack Walkthrough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Spring Boot microservices + React frontend wired over Kafka — running right now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2618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1612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Login (RBAC)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14081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Dev-login → pick Acme Corp + LD_ADMIN. JWT minted; all API calls scoped to tenant_acme_corp. Switch to Globex to show isolation.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762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20756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— CDC Read Model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3225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 compliance 92%, 6 awaiting review, 15 active interventions — all built by Reporting Service consuming Kafka events. Zero manual refresh.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0906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29900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At-Risk Monitor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2369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learners flagged: 1 Critical, 3 High, 2 Medium. Click any learner → full learning profile (attendance, scores, milestones, metrics).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9044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Human-Review Gate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41513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/ Override / Dismiss a Critical assessment. Watch awaiting review KPI drop on the dashboard in real time.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0972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12618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11612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Lifecycle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14081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 Recommended intervention → Active → log sessions → Complete with pre/post scores. Dashboard "Active Interventions" updates live.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20116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21762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58000" y="20756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Ingestion Demo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23225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Re-run ingest with a failing assessment for a healthy employee. Watch a NEW at-risk learner appear after the event propagates through the pipeline.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72200" y="2926080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090672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299008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Opt-Out + Pseudonymisation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858000" y="323697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→ withdraw risk_profiling consent. Employee drops off at-risk list. Generate report → employee is REDACTED-… in CSV download.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72200" y="480060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49103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WHAT THE POC PROVES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5239512"/>
            <a:ext cx="5285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architecture patterns are feasible: multi-tenant isolation, event-driven pipeline, human-review gate, consent opt-out, CDC read model, idempotent ingestion — all running together on one docker compose up.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Technology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Cloud-agnostic design — AWS primary, Azure/GCP portable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4360" y="1426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 3 / Java 21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microservices, sole primary backend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28416" y="1097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188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65576" y="1426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 + Vite + TypeScript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65576" y="1737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 · shadcn/ui · Tailwind CSS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99632" y="1097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188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BUS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36792" y="1426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Kafka (AWS MSK)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36792" y="1737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Tenant-scoped topics · Protobuf schemas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070848" y="1097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08008" y="1188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ENGINE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208008" y="1426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OSS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08008" y="1737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Provisioning · Intervention · Erasure sagas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331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94360" y="2569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16+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2880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Schema-per-service isolation, JSONB rules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28416" y="2240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5576" y="2331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65576" y="2569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Redis 7 (ElastiCache)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65576" y="2880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context · Rules cache · Sessions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99632" y="2240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2331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/ OUTBOX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336792" y="2569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Debezium + Outbox Pattern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36792" y="2880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Exactly-once delivery via PostgreSQL CDC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70848" y="2240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08008" y="2331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208008" y="2569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Kong Gateway OSS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08008" y="2880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JWKS-local JWT · Rate limiting · Feature flags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383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474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MESH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4360" y="3712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Istio on EKS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4360" y="4023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mTLS · Circuit breakers · Traffic splitting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328416" y="3383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65576" y="3474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SECRETS / KMS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65576" y="3712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HashiCorp Vault + AWS KMS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65576" y="4023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Per-tenant DEK · Envelope encryption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99632" y="3383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6792" y="3474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36792" y="3712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OpenTelemetry → Grafana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36792" y="4023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Metrics (Prometheus) · Traces (Tempo) · Logs (Loki)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070848" y="3383280"/>
            <a:ext cx="2779776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08008" y="3474720"/>
            <a:ext cx="2505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208008" y="3712464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+ ArgoCD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9208008" y="4023360"/>
            <a:ext cx="25054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GitOps: dev → test → staging → prod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52120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5212080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AWS EKS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435608" y="52120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35608" y="521208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Object Lock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054096" y="521208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54096" y="5212080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 SES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306824" y="5212080"/>
            <a:ext cx="251460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06824" y="52120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Confluent Schema Registry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931152" y="52120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31152" y="52120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Unleash Feature Flags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189720" y="5212080"/>
            <a:ext cx="214884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89720" y="5212080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Sentry Error Tracking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1448288" y="5212080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448288" y="521208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Billing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3066776" y="5212080"/>
            <a:ext cx="1965960" cy="292608"/>
          </a:xfrm>
          <a:prstGeom prst="roundRect">
            <a:avLst>
              <a:gd name="adj" fmla="val 1875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066776" y="521208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pgBackRest + Velero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Subscription Plans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tiers to match every organisation's scale and compliance needs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⭐ Starter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500 employees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Isolation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05940" y="205740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Row-level (Shared)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42316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4144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Rules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05940" y="244144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80720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2549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05940" y="282549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19125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09544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5940" y="3209544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3575304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93592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05940" y="3593592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959352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7764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05940" y="397764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434340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36168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05940" y="436168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472744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74573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805940" y="474573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" y="511149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109728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1097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1188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Pro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91840" y="1600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5,000 employees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29000" y="205740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Isolation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40580" y="205740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Schema-per-tenant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29000" y="242316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29000" y="244144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Rules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40580" y="244144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29000" y="280720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29000" y="282549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40580" y="282549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+ SMS + In-app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429000" y="319125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29000" y="3209544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640580" y="3209544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templates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29000" y="3575304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29000" y="3593592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40580" y="3593592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(rate-limited)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3959352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29000" y="397764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640580" y="397764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29000" y="434340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29000" y="436168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640580" y="436168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429000" y="472744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29000" y="474573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640580" y="474573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99.5%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429000" y="511149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26480" y="1097280"/>
            <a:ext cx="2697480" cy="48463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126480" y="1097280"/>
            <a:ext cx="269748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26480" y="1188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Enterprise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126480" y="16002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 employees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263640" y="205740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Isolation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475220" y="205740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DB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63640" y="242316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63640" y="244144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Rules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475220" y="244144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263640" y="280720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63640" y="282549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475220" y="282549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+ WebSocket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63640" y="319125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63640" y="3209544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475220" y="3209544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compliance suite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263640" y="3575304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63640" y="3593592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Access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475220" y="3593592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(dedicated quota)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6263640" y="3959352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63640" y="3977640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White-label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475220" y="3977640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+ Custom domain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6263640" y="4343400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63640" y="4361688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SSO / SAML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7475220" y="4361688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263640" y="4727448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63640" y="4745736"/>
            <a:ext cx="148361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7475220" y="4745736"/>
            <a:ext cx="11576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6263640" y="5111496"/>
            <a:ext cx="2423160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961120" y="1097280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961120" y="1097280"/>
            <a:ext cx="54864" cy="2331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125712" y="12070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ALL PLANS INCLUDE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9144000" y="1536192"/>
            <a:ext cx="2404872" cy="1801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management &amp; opt-out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Right-to-erasure API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2.1 AA accessibility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Immutable audit trail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Human-review gate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8961120" y="356616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61120" y="3566160"/>
            <a:ext cx="54864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9125712" y="3675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USAGE-BASED BILLING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9144000" y="4005072"/>
            <a:ext cx="240487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Metered via Stripe. Plan usage meters visible in Admin Dashboard. Automatic upgrade prompt at 90% limit.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Performance &amp; SLA Targets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Production-grade targets designed for enterprise-scale regulated workloads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43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Response Time (P95)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1430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200 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143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Load 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 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0992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09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Profile Generation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170992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500 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709928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7099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 Batch (1,000 employees)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1709928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2 min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276856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27685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Report Generation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227685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30 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276856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276856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Provisioning (Temporal)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276856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43784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284378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Data Sync Latency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94560" y="284378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1 hour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843784"/>
            <a:ext cx="2697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2843784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Context Resolution (cached)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843784"/>
            <a:ext cx="868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 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114300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1143000"/>
            <a:ext cx="54864" cy="1371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12527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RIGHT-TO-ERASURE SLA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1554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completion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955280" y="167335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55280" y="1673352"/>
            <a:ext cx="82296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0" y="15544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 hrs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1965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 maximum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55280" y="208483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0" y="19659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days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26974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0" y="2697480"/>
            <a:ext cx="54864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28072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AVAILABILITY SLA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3108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(99.9%)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955280" y="322783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3227832"/>
            <a:ext cx="2734056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0" y="310896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355080" y="3520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 / Starter (99.5%)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955280" y="3639312"/>
            <a:ext cx="27432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55280" y="3639312"/>
            <a:ext cx="2729484" cy="1097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89920" y="35204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99.5%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72200" y="425196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2200" y="4251960"/>
            <a:ext cx="54864" cy="1463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36792" y="4361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DLQ ALERT THRESHOLD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55080" y="4690872"/>
            <a:ext cx="5285232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message in a Dead Letter Queue (depth &gt; 0) triggers a PagerDuty alert within 5 minutes. Ensures no silent event loss in the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🗓️ Delivery Timeline — 20 Weeks to Production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structured phases from infrastructure foundations to full compliance go-live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63624" y="1508760"/>
            <a:ext cx="225856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9304" y="1234440"/>
            <a:ext cx="548640" cy="5486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9304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1–4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Tenant provisioning (Temporal)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(JWKS)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isolation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Kafka + outbox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22192" y="1508760"/>
            <a:ext cx="225856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123444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15768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Services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15768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5–8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07208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 adapters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Employee Profile Service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Engine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Management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1508760"/>
            <a:ext cx="225856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1234440"/>
            <a:ext cx="548640" cy="5486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74336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74336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9–12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65776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Intervention Service (Temporal)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 Service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+ WebSocket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Human-review gate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339328" y="1508760"/>
            <a:ext cx="225856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5008" y="123444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2904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32904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13–16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24344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Reporting (CDC)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Service (hash-chained)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Object Lock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dashboards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323576" y="123444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23576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91472" y="187452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Go-Live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91472" y="2148840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17–20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582912" y="2468880"/>
            <a:ext cx="202996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Right-to-erasure saga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GDPR/DPDP/CCPA/PIPEDA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WCAG 2.1 AA</a:t>
            </a:r>
            <a:endParaRPr lang="en-US" sz="9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+ pen testing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114800"/>
            <a:ext cx="54864" cy="1920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2245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STATUS TODAY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4526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6 microservices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88920" y="4617720"/>
            <a:ext cx="21945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88920" y="4617720"/>
            <a:ext cx="2194560" cy="118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45262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4892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frontend (8 pages)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88920" y="4983480"/>
            <a:ext cx="21945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88920" y="4983480"/>
            <a:ext cx="2194560" cy="118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5257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event pipeline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88920" y="5349240"/>
            <a:ext cx="21945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88920" y="5349240"/>
            <a:ext cx="2194560" cy="118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5257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0080" y="56235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data &amp; demo script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788920" y="5715000"/>
            <a:ext cx="2194560" cy="1188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88920" y="5715000"/>
            <a:ext cx="2194560" cy="1188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5623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Done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172200" y="411480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72200" y="4114800"/>
            <a:ext cx="54864" cy="1920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36792" y="42245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 (POST GA)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355080" y="4526280"/>
            <a:ext cx="3200400" cy="292608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45262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P1: E-signature (21 CFR Part 11)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55080" y="4937760"/>
            <a:ext cx="3200400" cy="292608"/>
          </a:xfrm>
          <a:prstGeom prst="roundRect">
            <a:avLst>
              <a:gd name="adj" fmla="val 1875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4937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P1: Developer Portal (Stoplight)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55080" y="5349240"/>
            <a:ext cx="2926080" cy="292608"/>
          </a:xfrm>
          <a:prstGeom prst="roundRect">
            <a:avLst>
              <a:gd name="adj" fmla="val 18750"/>
            </a:avLst>
          </a:prstGeom>
          <a:solidFill>
            <a:srgbClr val="CFFAFE"/>
          </a:solidFill>
          <a:ln w="12700">
            <a:solidFill>
              <a:srgbClr val="CFFA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53492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P2: ClickHouse OLAP Analytics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55080" y="576072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57607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653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P2: ML Risk Scoring (MLflow)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55080" y="6172200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55080" y="61722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34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P2: Cross-tenant benchmarks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✨ Key Capabilities at a Glance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the platform delivers out of the box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2377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DATA &amp; INTELLIGENCE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Multi-source data ingestion (REST + CSV) from any LMS/HRIS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Curated learning profile: attendance %, scores, trends, milestones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Configurable JSON rule engine — 5 to unlimited rules by plan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4-level risk classification with weighted scoring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CDC-fed reporting read model — always fresh, zero polling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611880"/>
            <a:ext cx="54864" cy="2377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37216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WORKFLOW AUTOMATION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507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Auto-recommended interventions on risk detection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Approval workflow with 48h SLA enforcement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Session logging &amp; outcome measurement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Temporal durable sagas: provisioning, plan upgrade, erasure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Automated escalation on SLA breach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0972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097280"/>
            <a:ext cx="54864" cy="2377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COMPLIANCE &amp; PRIVACY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5361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GDPR Art.22 human-review gate on automated profiling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Per-purpose consent management with full audit history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Right-to-erasure saga — 72hr target, signed certificate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Pseudonymisation in reports for opted-out employees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Immutable hash-chained audit log (S3 Object Lock)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3611880"/>
            <a:ext cx="5577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611880"/>
            <a:ext cx="54864" cy="2377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37216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MULTI-TENANCY &amp; 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050792"/>
            <a:ext cx="5285232" cy="1847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Row-level / schema / dedicated DB isolation by plan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Automated tenant onboarding &lt; 5 minutes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Per-tenant KMS encryption keys (Vault + AWS KMS)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Data residency pinning (EU: eu-west-1, India: ap-south-1)</a:t>
            </a:r>
            <a:endParaRPr lang="en-US" sz="1000" dirty="0"/>
          </a:p>
          <a:p>
            <a:pPr marL="342900" indent="-342900">
              <a:lnSpc>
                <a:spcPct val="125000"/>
              </a:lnSpc>
              <a:spcAft>
                <a:spcPts val="300"/>
              </a:spcAft>
              <a:buSzPct val="100000"/>
              <a:buChar char="●"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Feature flags per tenant (Unleash) + rate limiting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12188952" cy="457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Running the POC Demo — Quick Start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54864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you need to run the full stack locally in 3 steps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START THE BACKEND STACK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5087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CLP/backend/infra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 --build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Wait for all 6 services to report UP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Health: localhost:808{1..6}/actuator/health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55778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54864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8529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SEED DEMO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46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CLP/backend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infra/seed.mjs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employees + ingest batches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tenant: tenant_acme_corp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5577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4251960"/>
            <a:ext cx="54864" cy="1554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361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START THE FRONTEND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6634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CLP/ld-insights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http://localhost:5173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BF7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Login: Acme Corp + LD_ADMIN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097280"/>
            <a:ext cx="55778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1097280"/>
            <a:ext cx="54864" cy="3657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36792" y="120700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3A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PAGES AVAILABLE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1554480"/>
            <a:ext cx="52120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06840" y="15544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55080" y="1847088"/>
            <a:ext cx="5212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18470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Dashboard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006840" y="18470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At-Risk Monitor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006840" y="217627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/at-risk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2505456"/>
            <a:ext cx="5212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25054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👤 Employee Profile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06840" y="250545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/employees/:id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28346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Interventions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006840" y="28346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/interventions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3163824"/>
            <a:ext cx="5212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Session Planner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00684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/sessions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34930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Reporting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006840" y="34930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/reporting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3822192"/>
            <a:ext cx="5212080" cy="329184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38221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Rules Management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006840" y="38221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/rules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41513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Settings / Consent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006840" y="415137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/settings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4846320"/>
            <a:ext cx="5577840" cy="1280160"/>
          </a:xfrm>
          <a:prstGeom prst="roundRect">
            <a:avLst>
              <a:gd name="adj" fmla="val 5714"/>
            </a:avLst>
          </a:prstGeom>
          <a:solidFill>
            <a:srgbClr val="FEF9C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49560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854D0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DEMO TIP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55080" y="5285232"/>
            <a:ext cx="52852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top-right tenant switcher to show data isolation between Acme Corp (seeded) and Globex Ltd (empty). This proves multi-tenancy in 10 seconds.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88952" cy="2743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&amp; </a:t>
            </a:r>
            <a:r>
              <a:rPr lang="en-US" sz="4000" b="1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278892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LearnTrack CLP — Turning fragmented L&amp;D data into proactive, compliant, measurable action.</a:t>
            </a:r>
            <a:endParaRPr lang="en-US" sz="14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POC is live. All architecture patterns are proven. Ready for Phase 1.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5236" y="4297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2396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2396" y="4663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LearnTrack CLP v2.0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SaaS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88436" y="4297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5596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STATUS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25596" y="4663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Services Live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· React · Kafka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4297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8796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68796" y="4663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architecture/ directory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detailed documents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74836" y="429768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1996" y="43891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11996" y="46634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SME Review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Kickoff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0" y="64922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 of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LearnTrack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LearnTrack CLP — SME Demo &amp; Training Deck</dc:title>
  <dc:subject>PptxGenJS Presentation</dc:subject>
  <dc:creator>LearnTrack CLP</dc:creator>
  <cp:lastModifiedBy>LearnTrack CLP</cp:lastModifiedBy>
  <cp:revision>2</cp:revision>
  <dcterms:created xsi:type="dcterms:W3CDTF">2026-06-07T05:29:51Z</dcterms:created>
  <dcterms:modified xsi:type="dcterms:W3CDTF">2026-06-08T06:34:23Z</dcterms:modified>
</cp:coreProperties>
</file>