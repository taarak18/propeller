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88952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Corporate Learning Progress,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2196F3"/>
                </a:solidFill>
              </a:rPr>
              <a:t>Intervention &amp; Compliance Tracking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8F0FE"/>
                </a:solidFill>
              </a:rPr>
              <a:t>Production-Ready Multi-Tenant SaaS Architecture  —  v2.0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0A4AE"/>
                </a:solidFill>
              </a:rPr>
              <a:t>LearnTrack Platform  |  Spring Boot 3  ·  React 18  ·  Kafka  ·  Temporal  ·  AWS EKS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749039"/>
            <a:ext cx="2194560" cy="384048"/>
          </a:xfrm>
          <a:prstGeom prst="rect">
            <a:avLst/>
          </a:prstGeom>
          <a:solidFill>
            <a:srgbClr val="1B4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76732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Multi-Tenant SaaS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39" y="3749039"/>
            <a:ext cx="219456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376732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GDPR · DPDP · CCPA · PIPEDA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3749039"/>
            <a:ext cx="2194560" cy="3840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376732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SOC 2 Type II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3920" y="3749039"/>
            <a:ext cx="2194560" cy="38404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376732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99.9% SLA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630936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07D8B"/>
                </a:solidFill>
              </a:rPr>
              <a:t>Architecture Review Deck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4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F0FE"/>
                </a:solidFill>
              </a:rPr>
              <a:t>What we will cover in this deck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25296"/>
            <a:ext cx="411480" cy="34747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2529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1887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Executive Summary &amp; Business Objectives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82496"/>
            <a:ext cx="411480" cy="34747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8249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6459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SaaS Delivery Model &amp; Subscription Tiers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39696"/>
            <a:ext cx="411480" cy="34747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13969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1031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High-Level System Architecture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96896"/>
            <a:ext cx="411480" cy="34747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59689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5603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Microservices — Responsibilities &amp; Data Ownership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054096"/>
            <a:ext cx="411480" cy="34747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05409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0175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Multi-Tenant Isolation Strategy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511296"/>
            <a:ext cx="411480" cy="34747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51129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4747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Database Architecture &amp; ER Diagram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1225296"/>
            <a:ext cx="411480" cy="34747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22529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11887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Event-Driven Architecture — Kafka + Outbox + CDC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682496"/>
            <a:ext cx="411480" cy="34747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168249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16459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Key Technical Flows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2139696"/>
            <a:ext cx="411480" cy="34747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213969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21031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Security, Compliance &amp; Consent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2596896"/>
            <a:ext cx="411480" cy="34747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259689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25603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Deployment — AWS EKS, CI/CD &amp; Observability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3054096"/>
            <a:ext cx="411480" cy="34747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305409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30175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Performance Targets &amp; SLAs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3511296"/>
            <a:ext cx="411480" cy="34747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351129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34747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20-Week Delivery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4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F0FE"/>
                </a:solidFill>
              </a:rPr>
              <a:t>Corporate L&amp;D SaaS — What &amp; 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196F3"/>
                </a:solidFill>
              </a:rPr>
              <a:t>What is LearnTrack?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81328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A multi-tenant SaaS platform that consolidates fragmented employee learning data — training attendance, assessment results, and competency milestones — into a single actionable system. It identifies employees at risk of compliance failure 4–6 weeks early, assigns targeted interventions, and produces compliance-ready reports for regulatory bodies.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606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9800"/>
                </a:solidFill>
              </a:rPr>
              <a:t>What it is NOT: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92608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F0FE"/>
                </a:solidFill>
              </a:rPr>
              <a:t>Not a full LMS — it is an aggregation, analytics &amp; workflow layer
that sits ON TOP of existing LMS / HR / Assessment systems.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606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CAF50"/>
                </a:solidFill>
              </a:rPr>
              <a:t>Delivery Model: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92608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F0FE"/>
                </a:solidFill>
              </a:rPr>
              <a:t>Microservices · Spring Boot 3 (Java 21)
React 18 · Apache Kafka · Temporal
PostgreSQL · AWS EKS (multi-region)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749039"/>
            <a:ext cx="1828800" cy="1005840"/>
          </a:xfrm>
          <a:prstGeom prst="rect">
            <a:avLst/>
          </a:prstGeom>
          <a:solidFill>
            <a:srgbClr val="1B4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3767328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600"/>
                </a:solidFill>
              </a:rPr>
              <a:t>4–6 wks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422452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F0FE"/>
                </a:solidFill>
              </a:rPr>
              <a:t>Early Risk
Detection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3749039"/>
            <a:ext cx="1828800" cy="1005840"/>
          </a:xfrm>
          <a:prstGeom prst="rect">
            <a:avLst/>
          </a:prstGeom>
          <a:solidFill>
            <a:srgbClr val="1B4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3767328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600"/>
                </a:solidFill>
              </a:rPr>
              <a:t>70%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422452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F0FE"/>
                </a:solidFill>
              </a:rPr>
              <a:t>Intervention
Effectiveness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59" y="3749039"/>
            <a:ext cx="1828800" cy="1005840"/>
          </a:xfrm>
          <a:prstGeom prst="rect">
            <a:avLst/>
          </a:prstGeom>
          <a:solidFill>
            <a:srgbClr val="1B4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1959" y="3767328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600"/>
                </a:solidFill>
              </a:rPr>
              <a:t>+25%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59" y="422452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F0FE"/>
                </a:solidFill>
              </a:rPr>
              <a:t>Training
Completion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19" y="3749039"/>
            <a:ext cx="1828800" cy="1005840"/>
          </a:xfrm>
          <a:prstGeom prst="rect">
            <a:avLst/>
          </a:prstGeom>
          <a:solidFill>
            <a:srgbClr val="1B4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19" y="3767328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600"/>
                </a:solidFill>
              </a:rPr>
              <a:t>&lt; 5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19" y="422452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F0FE"/>
                </a:solidFill>
              </a:rPr>
              <a:t>Tenant
Provisioning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83879" y="3749039"/>
            <a:ext cx="1828800" cy="1005840"/>
          </a:xfrm>
          <a:prstGeom prst="rect">
            <a:avLst/>
          </a:prstGeom>
          <a:solidFill>
            <a:srgbClr val="1B4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83879" y="3767328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600"/>
                </a:solidFill>
              </a:rPr>
              <a:t>99.9%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422452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F0FE"/>
                </a:solidFill>
              </a:rPr>
              <a:t>Enterprise
Uptime SLA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49840" y="3749039"/>
            <a:ext cx="1828800" cy="1005840"/>
          </a:xfrm>
          <a:prstGeom prst="rect">
            <a:avLst/>
          </a:prstGeom>
          <a:solidFill>
            <a:srgbClr val="1B4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49840" y="3767328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600"/>
                </a:solidFill>
              </a:rPr>
              <a:t>30 days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422452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F0FE"/>
                </a:solidFill>
              </a:rPr>
              <a:t>Right-to-
Erasure SLA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493776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0A4AE"/>
                </a:solidFill>
              </a:rPr>
              <a:t>Compliance Scope: GDPR · UK GDPR · CCPA/CPRA · PIPEDA / Law 25 · DPDP Act 2023 · SOC 2 Type II · WCAG 2.1 AA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4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SaaS Delivery Model &amp; Subscription Tiers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51560"/>
            <a:ext cx="3749039" cy="5029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STARTER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353312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Up to 500 employees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72768"/>
            <a:ext cx="3749039" cy="4114800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627632"/>
            <a:ext cx="347472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▸  Shared DB (Row-Level Security)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▸  Shared K8s namespace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▸  5 custom risk rules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▸  Email notifications only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▸  Standard compliance reports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▸  99.5% SLA · Community support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9" y="1051560"/>
            <a:ext cx="3749039" cy="5029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59" y="105156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PRO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59" y="1353312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Up to 5,000 employees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572768"/>
            <a:ext cx="3749039" cy="4114800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627632"/>
            <a:ext cx="347472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▸  Schema-per-tenant (dedicated schema)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▸  Shared K8s namespace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▸  50 custom risk rules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▸  Email + SMS + In-app alerts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▸  Custom report templates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▸  White-label branding + Custom domain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▸  99.5% SLA · Business hours support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051560"/>
            <a:ext cx="3749039" cy="5029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05156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ENTERPRISE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353312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Unlimited employees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572768"/>
            <a:ext cx="3749039" cy="4114800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627632"/>
            <a:ext cx="347472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▸  Dedicated DB instance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▸  Dedicated K8s namespace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▸  Unlimited risk rules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▸  All channels + WebSocket real-time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▸  Full compliance report suite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▸  SSO / SAML per tenant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▸  API access (dedicated quota)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▸  99.9% SLA · 24/7 dedicated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48640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0A4AE"/>
                </a:solidFill>
              </a:rPr>
              <a:t>All tiers include: Consent Management · Right-to-Erasure API · WCAG 2.1 AA Accessibility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4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High-Level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F0FE"/>
                </a:solidFill>
              </a:rPr>
              <a:t>Layers &amp; interactions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2286000" cy="5486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515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CLIENT LAYER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606040" y="1051560"/>
            <a:ext cx="9235440" cy="548640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97480" y="1124712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F0FE"/>
                </a:solidFill>
              </a:rPr>
              <a:t>Web App (React 18 + TypeScript)  ·  Mobile PWA  ·  External Systems (LMS / HRIS / Assessment APIs)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60020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196F3"/>
                </a:solidFill>
              </a:rP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719072"/>
            <a:ext cx="2286000" cy="548640"/>
          </a:xfrm>
          <a:prstGeom prst="rect">
            <a:avLst/>
          </a:prstGeom>
          <a:solidFill>
            <a:srgbClr val="1B4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719072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EDGE LAYER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40" y="1719072"/>
            <a:ext cx="9235440" cy="548640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80" y="1792224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F0FE"/>
                </a:solidFill>
              </a:rPr>
              <a:t>CloudFront CDN  ·  AWS WAF (OWASP)  ·  Kong API Gateway (JWKS-local JWT, Rate Limiting, Tenant Routing)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226771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196F3"/>
                </a:solidFill>
              </a:rP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386584"/>
            <a:ext cx="2286000" cy="548640"/>
          </a:xfrm>
          <a:prstGeom prst="rect">
            <a:avLst/>
          </a:prstGeom>
          <a:solidFill>
            <a:srgbClr val="006D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2386584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BFF LAYER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06040" y="2386584"/>
            <a:ext cx="9235440" cy="548640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97480" y="2459736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F0FE"/>
                </a:solidFill>
              </a:rPr>
              <a:t>Web BFF — aggregates dashboard APIs  |  Mobile BFF — reduced payload for PWA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2935224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196F3"/>
                </a:solidFill>
              </a:rPr>
              <a:t>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054096"/>
            <a:ext cx="2286000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3054096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PLATFORM SERVICES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06040" y="3054096"/>
            <a:ext cx="9235440" cy="548640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97480" y="3127248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F0FE"/>
                </a:solidFill>
              </a:rPr>
              <a:t>Auth · Tenant Mgmt (Temporal) · Notification · Audit (hash-chained) · Consent · Unleash Feature Flags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880" y="3602736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196F3"/>
                </a:solidFill>
              </a:rPr>
              <a:t>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721608"/>
            <a:ext cx="2286000" cy="54864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3721608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DOMAIN MICROSERVICES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06040" y="3721608"/>
            <a:ext cx="9235440" cy="548640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97480" y="3794760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F0FE"/>
                </a:solidFill>
              </a:rPr>
              <a:t>Ingestion · Employee Profile · Risk Engine · Rule Management · Intervention (Temporal) · Reporting (CDC)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97880" y="427024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196F3"/>
                </a:solidFill>
              </a:rPr>
              <a:t>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389120"/>
            <a:ext cx="2286000" cy="54864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4389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EVENT BUS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06040" y="4389120"/>
            <a:ext cx="9235440" cy="548640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97480" y="4462272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F0FE"/>
                </a:solidFill>
              </a:rPr>
              <a:t>Apache Kafka / AWS MSK  ·  Protobuf + Schema Registry  ·  Outbox + Debezium CDC  ·  DLQ per consumer group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97880" y="4937759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196F3"/>
                </a:solidFill>
              </a:rPr>
              <a:t>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056631"/>
            <a:ext cx="2286000" cy="548640"/>
          </a:xfrm>
          <a:prstGeom prst="rect">
            <a:avLst/>
          </a:prstGeom>
          <a:solidFill>
            <a:srgbClr val="1A5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5056631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DATA LAYER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06040" y="5056631"/>
            <a:ext cx="9235440" cy="548640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97480" y="5129783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F0FE"/>
                </a:solidFill>
              </a:rPr>
              <a:t>PostgreSQL 16 (per-service DBs)  ·  Redis 7 (cache/sessions)  ·  AWS S3 Object Lock  ·  OpenSearch (P1)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97880" y="5605271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196F3"/>
                </a:solidFill>
              </a:rPr>
              <a:t>▼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724144"/>
            <a:ext cx="2286000" cy="548640"/>
          </a:xfrm>
          <a:prstGeom prst="rect">
            <a:avLst/>
          </a:prstGeom>
          <a:solidFill>
            <a:srgbClr val="4A1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5724144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OBSERVABILITY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06040" y="5724144"/>
            <a:ext cx="9235440" cy="548640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97480" y="5797296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F0FE"/>
                </a:solidFill>
              </a:rPr>
              <a:t>OpenTelemetry Collector → Prometheus · Grafana Tempo · Grafana Loki · Sentry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4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Microservices — Responsibilities &amp; Data Ownership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1051560"/>
          <a:ext cx="11795760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8940"/>
                <a:gridCol w="2948940"/>
                <a:gridCol w="2948940"/>
                <a:gridCol w="2948940"/>
              </a:tblGrid>
              <a:tr h="44577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Service</a:t>
                      </a:r>
                    </a:p>
                  </a:txBody>
                  <a:tcPr>
                    <a:solidFill>
                      <a:srgbClr val="1B48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Responsibility</a:t>
                      </a:r>
                    </a:p>
                  </a:txBody>
                  <a:tcPr>
                    <a:solidFill>
                      <a:srgbClr val="1B48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Own Database</a:t>
                      </a:r>
                    </a:p>
                  </a:txBody>
                  <a:tcPr>
                    <a:solidFill>
                      <a:srgbClr val="1B48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Key v2 Change</a:t>
                      </a:r>
                    </a:p>
                  </a:txBody>
                  <a:tcPr>
                    <a:solidFill>
                      <a:srgbClr val="1B4886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Tenant Management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Org onboarding, config, billing, feature flags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tenant-db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Temporal saga for provisioning &amp; plan upgrades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Auth / Identity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OAuth2, JWT (JWKS), SSO/SAML, MFA, RBAC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auth-db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Publishes JWKS; gateway validates locally — not on hot path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Ingestion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Raw staging of attendance, scores, milestones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ingestion-db (raw staging)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Idempotency-Key; outbox → Debezium CDC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Employee Profile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Curated read model; competency analytics; trends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profile-db (curated)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Consumes data.ingested events only — no direct DB cross-read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Risk Engine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Rule execution, at-risk classification, alerts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risk-db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Human-review gate (GDPR Art.22) for CRITICAL / HIGH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Rule Management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Rule CRUD, versioning, test sandbox, activation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rules-db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Separated from Risk Engine for safe authoring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Intervention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Remedial training &amp; coaching lifecycle, outcomes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intervention-db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Temporal durable workflow — assign → approve → complete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Reporting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Compliance reports, L&amp;D dashboards, exports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reporting-db (CDC read model)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CDC-fed CQRS — no polling, no dual-write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Notification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Email, SMS, in-app, WebSocket / SSE push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None (stateless)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WebSocket STOMP gateway for live dashboard alerts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Audit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Immutable hash-chained event log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audit-db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SHA-256 hash chain + S3 Object Lock (WORM) archive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Consent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Per-employee consent, opt-out, erasure saga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consent-db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New in v2 — satisfies GDPR, DPDP, CCPA, PIPEDA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4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Multi-Tenant Isolation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F0FE"/>
                </a:solidFill>
              </a:rPr>
              <a:t>Per-tier isolation model and blast-radius control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" y="1051560"/>
          <a:ext cx="117957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8940"/>
                <a:gridCol w="2948940"/>
                <a:gridCol w="2948940"/>
                <a:gridCol w="2948940"/>
              </a:tblGrid>
              <a:tr h="587828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Isolation Aspect</a:t>
                      </a:r>
                    </a:p>
                  </a:txBody>
                  <a:tcPr>
                    <a:solidFill>
                      <a:srgbClr val="1B48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Starter</a:t>
                      </a:r>
                    </a:p>
                  </a:txBody>
                  <a:tcPr>
                    <a:solidFill>
                      <a:srgbClr val="1B48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Pro</a:t>
                      </a:r>
                    </a:p>
                  </a:txBody>
                  <a:tcPr>
                    <a:solidFill>
                      <a:srgbClr val="1B48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Enterprise</a:t>
                      </a:r>
                    </a:p>
                  </a:txBody>
                  <a:tcPr>
                    <a:solidFill>
                      <a:srgbClr val="1B4886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Database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Shared schema</a:t>
                      </a:r>
                    </a:p>
                    <a:p>
                      <a:r>
                        <a:t>(PostgreSQL RLS)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Shared DB —</a:t>
                      </a:r>
                    </a:p>
                    <a:p>
                      <a:r>
                        <a:t>dedicated schema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Dedicated DB</a:t>
                      </a:r>
                    </a:p>
                    <a:p>
                      <a:r>
                        <a:t>instance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Kubernetes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Shared namespace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Shared namespace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Dedicated namespace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Kafka Topics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Shared — filtered by tenant_id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Shared — partitioned by tenant_id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Dedicated topics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Redis Keyspace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Prefixed by tenant_id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Prefixed by tenant_id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Dedicated Redis cluster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KMS / Encryption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Shared DEK via Vault transit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Dedicated DEK per tenant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Dedicated DEK + KMS key alias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Data Breach Blast Radius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Shared tier (RLS boundary)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Schema-level isolation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Fully isolated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534924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196F3"/>
                </a:solidFill>
              </a:rPr>
              <a:t>Kong API Gateway resolves tenant tier on every request → routes to correct DB schema / namespace / Kafka topic.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71500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F0FE"/>
                </a:solidFill>
              </a:rPr>
              <a:t>Tenant context (db_schema, feature_flags, plan_limits, data_region) is Redis-cached for 60 s — resolved in &lt; 5 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4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Database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F0FE"/>
                </a:solidFill>
              </a:rPr>
              <a:t>Per-service ownership · ER highlights · Redis keyspace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196F3"/>
                </a:solidFill>
              </a:rPr>
              <a:t>Database-per-Service Ownership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81328"/>
            <a:ext cx="1463040" cy="822960"/>
          </a:xfrm>
          <a:prstGeom prst="rect">
            <a:avLst/>
          </a:prstGeom>
          <a:solidFill>
            <a:srgbClr val="1B4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481328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tenant-db</a:t>
            </a:r>
          </a:p>
        </p:txBody>
      </p:sp>
      <p:sp>
        <p:nvSpPr>
          <p:cNvPr id="8" name="Rectangle 7"/>
          <p:cNvSpPr/>
          <p:nvPr/>
        </p:nvSpPr>
        <p:spPr>
          <a:xfrm>
            <a:off x="1755648" y="1481328"/>
            <a:ext cx="4407408" cy="822960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47088" y="1527048"/>
            <a:ext cx="4206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F0FE"/>
                </a:solidFill>
              </a:rPr>
              <a:t>tenants · tenant_plans · feature_flags · billing_events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481328"/>
            <a:ext cx="1463040" cy="822960"/>
          </a:xfrm>
          <a:prstGeom prst="rect">
            <a:avLst/>
          </a:prstGeom>
          <a:solidFill>
            <a:srgbClr val="1B4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481328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auth-db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44967" y="1481328"/>
            <a:ext cx="4407408" cy="822960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36408" y="1527048"/>
            <a:ext cx="4206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F0FE"/>
                </a:solidFill>
              </a:rPr>
              <a:t>users · roles · sessions · sso_config · jwks_keys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441448"/>
            <a:ext cx="1463040" cy="822960"/>
          </a:xfrm>
          <a:prstGeom prst="rect">
            <a:avLst/>
          </a:prstGeom>
          <a:solidFill>
            <a:srgbClr val="5D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2441448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ingestion-db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55648" y="2441448"/>
            <a:ext cx="4407408" cy="822960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47088" y="2487168"/>
            <a:ext cx="4206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F0FE"/>
                </a:solidFill>
              </a:rPr>
              <a:t>ingestion_jobs · raw_attendance_staging · raw_assessment_staging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2441448"/>
            <a:ext cx="1463040" cy="8229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2441448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profile-db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44967" y="2441448"/>
            <a:ext cx="4407408" cy="822960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36408" y="2487168"/>
            <a:ext cx="4206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F0FE"/>
                </a:solidFill>
              </a:rPr>
              <a:t>employees · training_attendance · assessment_records
· competency_milestones · employee_milestone_progress · profile_snapshots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401568"/>
            <a:ext cx="1463040" cy="8229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3401568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risk-db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55648" y="3401568"/>
            <a:ext cx="4407408" cy="822960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47088" y="3447288"/>
            <a:ext cx="4206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F0FE"/>
                </a:solidFill>
              </a:rPr>
              <a:t>risk_assessments · risk_reviews · risk_outbox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3401568"/>
            <a:ext cx="1463040" cy="8229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3401568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rules-db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44967" y="3401568"/>
            <a:ext cx="4407408" cy="822960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36408" y="3447288"/>
            <a:ext cx="4206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F0FE"/>
                </a:solidFill>
              </a:rPr>
              <a:t>risk_rules · risk_rule_versions · rule_test_runs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361688"/>
            <a:ext cx="1463040" cy="8229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4361688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intervention-db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55648" y="4361688"/>
            <a:ext cx="4407408" cy="822960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47088" y="4407408"/>
            <a:ext cx="4206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F0FE"/>
                </a:solidFill>
              </a:rPr>
              <a:t>interventions · intervention_sessions · intervention_outcomes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4361688"/>
            <a:ext cx="1463040" cy="822960"/>
          </a:xfrm>
          <a:prstGeom prst="rect">
            <a:avLst/>
          </a:prstGeom>
          <a:solidFill>
            <a:srgbClr val="006D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3640" y="4361688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reporting-db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44967" y="4361688"/>
            <a:ext cx="4407408" cy="822960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36408" y="4407408"/>
            <a:ext cx="4206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F0FE"/>
                </a:solidFill>
              </a:rPr>
              <a:t>report_templates · generated_reports · ld_reporting_aggregates
· compliance_calendars · at_risk_snapshots (CDC-fed read model)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5321808"/>
            <a:ext cx="1463040" cy="8229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5321808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consent-db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755648" y="5321808"/>
            <a:ext cx="4407408" cy="822960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47088" y="5367528"/>
            <a:ext cx="4206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F0FE"/>
                </a:solidFill>
              </a:rPr>
              <a:t>consents · consent_audit · erasure_requests · data_export_requests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5321808"/>
            <a:ext cx="1463040" cy="822960"/>
          </a:xfrm>
          <a:prstGeom prst="rect">
            <a:avLst/>
          </a:prstGeom>
          <a:solidFill>
            <a:srgbClr val="1A5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5321808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audit-db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44967" y="5321808"/>
            <a:ext cx="4407408" cy="822960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36408" y="5367528"/>
            <a:ext cx="4206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F0FE"/>
                </a:solidFill>
              </a:rPr>
              <a:t>audit_log (hash-chained) · audit_chain_checkpoints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" y="644652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0A4AE"/>
                </a:solidFill>
              </a:rPr>
              <a:t>Redis Keyspace: tenant_ctx:{id} (60s)  ·  profile:{id}:{emp} (1hr)  ·  rules:{id}:active (5min)  ·  jwks:{id} (5min)  ·  session:{hash} (JWT TTL)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4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Event-Driven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F0FE"/>
                </a:solidFill>
              </a:rPr>
              <a:t>Kafka · Transactional Outbox · Debezium CDC · DLQ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196F3"/>
                </a:solidFill>
              </a:rPr>
              <a:t>Reliable Event Delivery — Outbox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2011680" cy="71323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508760"/>
            <a:ext cx="2011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1. Domain Write</a:t>
            </a:r>
          </a:p>
        </p:txBody>
      </p:sp>
      <p:sp>
        <p:nvSpPr>
          <p:cNvPr id="8" name="Rectangle 7"/>
          <p:cNvSpPr/>
          <p:nvPr/>
        </p:nvSpPr>
        <p:spPr>
          <a:xfrm>
            <a:off x="2331720" y="1508760"/>
            <a:ext cx="6675120" cy="713232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23160" y="1600200"/>
            <a:ext cx="6492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Service writes entity row + outbox event in ONE TRANSACTION (atomicity guaranteed)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221991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196F3"/>
                </a:solidFill>
              </a:rPr>
              <a:t>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331720"/>
            <a:ext cx="2011680" cy="713232"/>
          </a:xfrm>
          <a:prstGeom prst="rect">
            <a:avLst/>
          </a:prstGeom>
          <a:solidFill>
            <a:srgbClr val="1B4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2331720"/>
            <a:ext cx="2011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2. Debezium CDC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1720" y="2331720"/>
            <a:ext cx="6675120" cy="713232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23160" y="2423160"/>
            <a:ext cx="6492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Debezium polls committed outbox rows → publishes to Kafka topic (exactly-once delivery)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04495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196F3"/>
                </a:solidFill>
              </a:rPr>
              <a:t>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154680"/>
            <a:ext cx="2011680" cy="71323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3154680"/>
            <a:ext cx="2011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3. Consumer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31720" y="3154680"/>
            <a:ext cx="6675120" cy="713232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23160" y="3246120"/>
            <a:ext cx="6492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Idempotent consumer processes event → upserts its own DB read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86791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196F3"/>
                </a:solidFill>
              </a:rPr>
              <a:t>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977639"/>
            <a:ext cx="2011680" cy="71323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3977639"/>
            <a:ext cx="2011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4. Retry Topic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31720" y="3977639"/>
            <a:ext cx="6675120" cy="713232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23160" y="4069079"/>
            <a:ext cx="6492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Transient failure → republish to retry.{topic} with exponential backoff header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69087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196F3"/>
                </a:solidFill>
              </a:rPr>
              <a:t>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800600"/>
            <a:ext cx="2011680" cy="71323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4800600"/>
            <a:ext cx="2011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5. DLQ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31720" y="4800600"/>
            <a:ext cx="6675120" cy="713232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23160" y="4892040"/>
            <a:ext cx="6492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After 3 attempts → park in dlq.{service}.{event-type} → PagerDuty alert within 5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107899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196F3"/>
                </a:solidFill>
              </a:rPr>
              <a:t>Key Kafka Topics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1463040"/>
            <a:ext cx="2743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E8F0FE"/>
                </a:solidFill>
              </a:rPr>
              <a:t>▸  data.ingested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8F0FE"/>
                </a:solidFill>
              </a:rPr>
              <a:t>▸  profile.updated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8F0FE"/>
                </a:solidFill>
              </a:rPr>
              <a:t>▸  risk.detected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8F0FE"/>
                </a:solidFill>
              </a:rPr>
              <a:t>▸  risk.resolved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8F0FE"/>
                </a:solidFill>
              </a:rPr>
              <a:t>▸  intervention.assigned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8F0FE"/>
                </a:solidFill>
              </a:rPr>
              <a:t>▸  intervention.completed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8F0FE"/>
                </a:solidFill>
              </a:rPr>
              <a:t>▸  consent.updated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8F0FE"/>
                </a:solidFill>
              </a:rPr>
              <a:t>▸  consent.withdrawn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8F0FE"/>
                </a:solidFill>
              </a:rPr>
              <a:t>▸  tenant.provisioned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8F0FE"/>
                </a:solidFill>
              </a:rPr>
              <a:t>▸  tenant.plan.upgraded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8F0FE"/>
                </a:solidFill>
              </a:rPr>
              <a:t>▸  report.generated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644652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0A4AE"/>
                </a:solidFill>
              </a:rPr>
              <a:t>Topic naming: {service}.{event}  ·  DLQ naming: dlq.{service}.{event-type}  ·  Schema: Protobuf + Confluent Schema Registry (FULL compatibility)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4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Technical 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F0FE"/>
                </a:solidFill>
              </a:rPr>
              <a:t>11 documented flows — highlights below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051560"/>
            <a:ext cx="5669280" cy="38404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078992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01  Tenant Provisioning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44568" y="1051560"/>
            <a:ext cx="1353312" cy="3840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44568" y="1051560"/>
            <a:ext cx="1353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D600"/>
                </a:solidFill>
              </a:rPr>
              <a:t>Temporal Saga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453895"/>
            <a:ext cx="5669280" cy="1325880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" y="1527048"/>
            <a:ext cx="544982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F0FE"/>
                </a:solidFill>
              </a:rPr>
              <a:t>8 compensating steps: DB provision → migrations → seed rules → seed templates → create admin → publish event → welcome email. Any failure triggers full rollback. Live in &lt; 5 min.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051560"/>
            <a:ext cx="5669280" cy="384048"/>
          </a:xfrm>
          <a:prstGeom prst="rect">
            <a:avLst/>
          </a:prstGeom>
          <a:solidFill>
            <a:srgbClr val="1B4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59" y="1078992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02  JWKS-Local JWT Validation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33888" y="1051560"/>
            <a:ext cx="1353312" cy="3840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33888" y="1051560"/>
            <a:ext cx="1353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D600"/>
                </a:solidFill>
              </a:rPr>
              <a:t>API Gateway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453895"/>
            <a:ext cx="5669280" cy="1325880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1527048"/>
            <a:ext cx="544982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F0FE"/>
                </a:solidFill>
              </a:rPr>
              <a:t>Kong validates JWT locally using cached JWKS (Redis, 5 min TTL). Auth Service NOT on hot path — only called on key rotation or cache miss.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2834639"/>
            <a:ext cx="5669280" cy="38404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2862071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03  Idempotent Data Ingestion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44568" y="2834639"/>
            <a:ext cx="1353312" cy="3840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4568" y="2834639"/>
            <a:ext cx="1353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D600"/>
                </a:solidFill>
              </a:rPr>
              <a:t>Ingestion Service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3236975"/>
            <a:ext cx="5669280" cy="1325880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8" y="3310127"/>
            <a:ext cx="544982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F0FE"/>
                </a:solidFill>
              </a:rPr>
              <a:t>Idempotency-Key header required. Duplicate detection via ingestion_jobs index. Outbox + Debezium CDC → Kafka → Profile Service rebuilds curated read model.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2834639"/>
            <a:ext cx="5669280" cy="3840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59" y="2862071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04  Employee Risk Detection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533888" y="2834639"/>
            <a:ext cx="1353312" cy="3840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33888" y="2834639"/>
            <a:ext cx="1353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D600"/>
                </a:solidFill>
              </a:rPr>
              <a:t>Risk Engine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236975"/>
            <a:ext cx="5669280" cy="1325880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27648" y="3310127"/>
            <a:ext cx="544982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F0FE"/>
                </a:solidFill>
              </a:rPr>
              <a:t>Consumes profile.updated → evaluates active rules → classifies CRITICAL/HIGH/MEDIUM/LOW. CRITICAL &amp; HIGH require human-review record before notification is dispatched (GDPR Art.22).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4617720"/>
            <a:ext cx="5669280" cy="38404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4645152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05  Intervention Lifecycle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44568" y="4617720"/>
            <a:ext cx="1353312" cy="3840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44568" y="4617720"/>
            <a:ext cx="1353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D600"/>
                </a:solidFill>
              </a:rPr>
              <a:t>Temporal Workflow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5020056"/>
            <a:ext cx="5669280" cy="1325880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8328" y="5093208"/>
            <a:ext cx="544982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F0FE"/>
                </a:solidFill>
              </a:rPr>
              <a:t>assign → pending_approval → active → sessions → complete → evaluated. Temporal timers handle 48h SLA escalation. Pre/post outcome metrics recorded.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4617720"/>
            <a:ext cx="5669280" cy="38404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59" y="4645152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06  Right-to-Erasure Saga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533888" y="4617720"/>
            <a:ext cx="1353312" cy="3840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33888" y="4617720"/>
            <a:ext cx="1353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D600"/>
                </a:solidFill>
              </a:rPr>
              <a:t>Temporal + Consent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5020056"/>
            <a:ext cx="5669280" cy="1325880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27648" y="5093208"/>
            <a:ext cx="544982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F0FE"/>
                </a:solidFill>
              </a:rPr>
              <a:t>Cross-service PII erasure: Profile → Risk → Intervention → Reporting → Audit. Signed deletion certificate uploaded to S3 Object Lock on completion. Target: &lt; 72 hrs.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4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Security, Compliance &amp; Consent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F0FE"/>
                </a:solidFill>
              </a:rPr>
              <a:t>Defence-in-depth across every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196F3"/>
                </a:solidFill>
              </a:rPr>
              <a:t>Security Controls by 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81328"/>
            <a:ext cx="1737360" cy="475488"/>
          </a:xfrm>
          <a:prstGeom prst="rect">
            <a:avLst/>
          </a:prstGeom>
          <a:solidFill>
            <a:srgbClr val="1B4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481328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Edge</a:t>
            </a:r>
          </a:p>
        </p:txBody>
      </p:sp>
      <p:sp>
        <p:nvSpPr>
          <p:cNvPr id="8" name="Rectangle 7"/>
          <p:cNvSpPr/>
          <p:nvPr/>
        </p:nvSpPr>
        <p:spPr>
          <a:xfrm>
            <a:off x="2057400" y="1481328"/>
            <a:ext cx="5029200" cy="475488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48840" y="1527048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F0FE"/>
                </a:solidFill>
              </a:rPr>
              <a:t>AWS WAF (OWASP Core Rules + DDoS + IP reputation) · CloudFront · TLS 1.3 · AWS Shield Standard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048256"/>
            <a:ext cx="1737360" cy="475488"/>
          </a:xfrm>
          <a:prstGeom prst="rect">
            <a:avLst/>
          </a:prstGeom>
          <a:solidFill>
            <a:srgbClr val="1B4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048256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API Gateway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57400" y="2048256"/>
            <a:ext cx="5029200" cy="475488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48840" y="2093976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F0FE"/>
                </a:solidFill>
              </a:rPr>
              <a:t>JWKS-local JWT validation · Per-tenant rate limiting · Feature-flag gating (Unleash)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615184"/>
            <a:ext cx="1737360" cy="475488"/>
          </a:xfrm>
          <a:prstGeom prst="rect">
            <a:avLst/>
          </a:prstGeom>
          <a:solidFill>
            <a:srgbClr val="1B4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2615184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Service Mesh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57400" y="2615184"/>
            <a:ext cx="5029200" cy="475488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48840" y="2660904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F0FE"/>
                </a:solidFill>
              </a:rPr>
              <a:t>Istio mTLS STRICT · Circuit breaker (5 errors → open) · 3 retries + per-try timeout 2 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182112"/>
            <a:ext cx="1737360" cy="475488"/>
          </a:xfrm>
          <a:prstGeom prst="rect">
            <a:avLst/>
          </a:prstGeom>
          <a:solidFill>
            <a:srgbClr val="1B4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3182112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57400" y="3182112"/>
            <a:ext cx="5029200" cy="475488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48840" y="3227832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F0FE"/>
                </a:solidFill>
              </a:rPr>
              <a:t>PostgreSQL RLS (Starter) · Schema isolation (Pro) · Dedicated DB (Enterprise) · pgaudit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749039"/>
            <a:ext cx="1737360" cy="475488"/>
          </a:xfrm>
          <a:prstGeom prst="rect">
            <a:avLst/>
          </a:prstGeom>
          <a:solidFill>
            <a:srgbClr val="1B4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3749039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Data at Rest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57400" y="3749039"/>
            <a:ext cx="5029200" cy="475488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48840" y="3794759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F0FE"/>
                </a:solidFill>
              </a:rPr>
              <a:t>AES-256 · PII columns: envelope encryption via Vault transit DEK + AWS KMS CMK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315968"/>
            <a:ext cx="1737360" cy="475488"/>
          </a:xfrm>
          <a:prstGeom prst="rect">
            <a:avLst/>
          </a:prstGeom>
          <a:solidFill>
            <a:srgbClr val="1B4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4315968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Secrets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57400" y="4315968"/>
            <a:ext cx="5029200" cy="475488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48840" y="4361688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F0FE"/>
                </a:solidFill>
              </a:rPr>
              <a:t>HashiCorp Vault — per-tenant namespace · Auto-rotated DEKs · No secrets in K8s ConfigMaps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882896"/>
            <a:ext cx="1737360" cy="475488"/>
          </a:xfrm>
          <a:prstGeom prst="rect">
            <a:avLst/>
          </a:prstGeom>
          <a:solidFill>
            <a:srgbClr val="1B4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4882896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Audit Trail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57400" y="4882896"/>
            <a:ext cx="5029200" cy="475488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48840" y="4928616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F0FE"/>
                </a:solidFill>
              </a:rPr>
              <a:t>Hash-chained audit_log · SHA-256 chain · S3 Object Lock (WORM) periodic archive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5449824"/>
            <a:ext cx="1737360" cy="475488"/>
          </a:xfrm>
          <a:prstGeom prst="rect">
            <a:avLst/>
          </a:prstGeom>
          <a:solidFill>
            <a:srgbClr val="1B4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5449824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Container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57400" y="5449824"/>
            <a:ext cx="5029200" cy="475488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48840" y="5495544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F0FE"/>
                </a:solidFill>
              </a:rPr>
              <a:t>Non-root · Read-only root FS · seccomp + AppArmor · ECR image scan + Snyk in CI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0" y="10789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196F3"/>
                </a:solidFill>
              </a:rPr>
              <a:t>Compliance Regions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06640" y="1481328"/>
            <a:ext cx="2194560" cy="1024128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98079" y="152704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600"/>
                </a:solidFill>
              </a:rPr>
              <a:t>🇪🇺  Europe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79" y="1865376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GDPR · UK GDPR · EAA
eu-west-1 / eu-central-1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738359" y="1481328"/>
            <a:ext cx="2194560" cy="1024128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29799" y="152704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600"/>
                </a:solidFill>
              </a:rPr>
              <a:t>🇺🇸  United States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29799" y="1865376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SOC 2 Type II · CCPA/CPRA
us-east-1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06640" y="2624328"/>
            <a:ext cx="2194560" cy="1024128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98079" y="267004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600"/>
                </a:solidFill>
              </a:rPr>
              <a:t>🇨🇦  Canada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79" y="3008376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PIPEDA · Quebec Law 25
ca-central-1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738359" y="2624328"/>
            <a:ext cx="2194560" cy="1024128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829799" y="267004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600"/>
                </a:solidFill>
              </a:rPr>
              <a:t>🇮🇳  India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29799" y="3008376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DPDP Act 2023
ap-south-1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06640" y="384048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196F3"/>
                </a:solidFill>
              </a:rPr>
              <a:t>Consent &amp; Automated-Profiling Controls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06640" y="4206240"/>
            <a:ext cx="4663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FFFFFF"/>
                </a:solidFill>
              </a:rPr>
              <a:t>▸  Per-employee consent per purpose (risk_profiling, benchmarking, ml_scoring)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FFFFF"/>
                </a:solidFill>
              </a:rPr>
              <a:t>▸  GDPR Art.22 human-review gate on CRITICAL/HIGH automated classifications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FFFFF"/>
                </a:solidFill>
              </a:rPr>
              <a:t>▸  opt-out flag suppresses risk engine &amp; reporting inclusion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FFFFF"/>
                </a:solidFill>
              </a:rPr>
              <a:t>▸  Right-to-erasure Temporal saga — signed certificate on completion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FFFFF"/>
                </a:solidFill>
              </a:rPr>
              <a:t>▸  Consent audit trail immutable in audit-db + S3 Object Lock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4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Deployment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F0FE"/>
                </a:solidFill>
              </a:rPr>
              <a:t>AWS EKS · Multi-region · GitOps CI/CD · 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196F3"/>
                </a:solidFill>
              </a:rPr>
              <a:t>AWS Infrastructure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44752"/>
            <a:ext cx="2377440" cy="457200"/>
          </a:xfrm>
          <a:prstGeom prst="rect">
            <a:avLst/>
          </a:prstGeom>
          <a:solidFill>
            <a:srgbClr val="1B4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44475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Container Orchestration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7480" y="1444752"/>
            <a:ext cx="4297680" cy="457200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88920" y="150876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Amazon EKS — multi-namespace per tenant tier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993392"/>
            <a:ext cx="2377440" cy="457200"/>
          </a:xfrm>
          <a:prstGeom prst="rect">
            <a:avLst/>
          </a:prstGeom>
          <a:solidFill>
            <a:srgbClr val="1B4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99339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Message Broker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80" y="1993392"/>
            <a:ext cx="4297680" cy="457200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20574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Amazon MSK (Kafka 3 brokers, 3 AZs)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542032"/>
            <a:ext cx="2377440" cy="457200"/>
          </a:xfrm>
          <a:prstGeom prst="rect">
            <a:avLst/>
          </a:prstGeom>
          <a:solidFill>
            <a:srgbClr val="1B4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254203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97480" y="2542032"/>
            <a:ext cx="4297680" cy="457200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88920" y="26060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Amazon RDS PostgreSQL 16 — 1 primary + 2 replicas Multi-AZ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090672"/>
            <a:ext cx="2377440" cy="457200"/>
          </a:xfrm>
          <a:prstGeom prst="rect">
            <a:avLst/>
          </a:prstGeom>
          <a:solidFill>
            <a:srgbClr val="1B4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309067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Cache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97480" y="3090672"/>
            <a:ext cx="4297680" cy="457200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88920" y="3154679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Amazon ElastiCache Redis Cluster (3 nodes)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639312"/>
            <a:ext cx="2377440" cy="457200"/>
          </a:xfrm>
          <a:prstGeom prst="rect">
            <a:avLst/>
          </a:prstGeom>
          <a:solidFill>
            <a:srgbClr val="1B4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363931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CDN / Edge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97480" y="3639312"/>
            <a:ext cx="4297680" cy="457200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88920" y="370332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CloudFront + AWS WAF + Route 53 (health routing + failover)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187952"/>
            <a:ext cx="2377440" cy="457200"/>
          </a:xfrm>
          <a:prstGeom prst="rect">
            <a:avLst/>
          </a:prstGeom>
          <a:solidFill>
            <a:srgbClr val="1B4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418795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Object Storage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97480" y="4187952"/>
            <a:ext cx="4297680" cy="457200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88920" y="425196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AWS S3 with Object Lock (WORM) — reports, audit archives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736592"/>
            <a:ext cx="2377440" cy="457200"/>
          </a:xfrm>
          <a:prstGeom prst="rect">
            <a:avLst/>
          </a:prstGeom>
          <a:solidFill>
            <a:srgbClr val="1B4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473659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Secrets / KMS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97480" y="4736592"/>
            <a:ext cx="4297680" cy="457200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88920" y="48006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HashiCorp Vault (self-hosted) + AWS KMS CMK per region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5285232"/>
            <a:ext cx="2377440" cy="457200"/>
          </a:xfrm>
          <a:prstGeom prst="rect">
            <a:avLst/>
          </a:prstGeom>
          <a:solidFill>
            <a:srgbClr val="1B4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528523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Email / SMS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97480" y="5285232"/>
            <a:ext cx="4297680" cy="457200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88920" y="53492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Amazon SES (email) · Amazon SNS / Twilio (SMS)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0" y="105156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196F3"/>
                </a:solidFill>
              </a:rPr>
              <a:t>CI/CD Pipeline (GitOps)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06640" y="1463040"/>
            <a:ext cx="4663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</a:rPr>
              <a:t>▸  GitHub Actions: Checkstyle · JUnit 5 (80% coverage) · Testcontainers · Snyk SAST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</a:rPr>
              <a:t>▸  Docker image → Amazon ECR · Helm chart packaging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</a:rPr>
              <a:t>▸  ArgoCD GitOps: dev → test → staging → [manual gate] → production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</a:rPr>
              <a:t>▸  Rolling update — zero downtime · Auto-rollback if error rate &gt; 1% or P95 latency spikes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35204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196F3"/>
                </a:solidFill>
              </a:rPr>
              <a:t>Observability Stack (OpenTelemetry Unified)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06640" y="3913632"/>
            <a:ext cx="4663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</a:rPr>
              <a:t>▸  OTel Java Agent → OTel Collector (DaemonSet, tenant-ID enrichment)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</a:rPr>
              <a:t>▸  Prometheus + Grafana — metrics per service per tenant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</a:rPr>
              <a:t>▸  Grafana Tempo — distributed traces (correlated via trace_id)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</a:rPr>
              <a:t>▸  Grafana Loki — structured logs tagged with tenant_id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</a:rPr>
              <a:t>▸  Sentry — code-level error tracking per service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</a:rPr>
              <a:t>▸  PagerDuty — DLQ depth &gt; 0 or API error rate &gt; 1% within 5 min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644652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0A4AE"/>
                </a:solidFill>
              </a:rPr>
              <a:t>DR: us-west-2 warm standby · pgBackRest WAL archiving · Velero K8s snapshots · RTO &lt; 1hr (Enterprise)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4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Performance Targets &amp; SLAs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7899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196F3"/>
                </a:solidFill>
              </a:rPr>
              <a:t>System Performance Targets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" y="1481328"/>
          <a:ext cx="69494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480"/>
                <a:gridCol w="2316480"/>
                <a:gridCol w="2316480"/>
              </a:tblGrid>
              <a:tr h="386861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B48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1B48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Alert Threshold</a:t>
                      </a:r>
                    </a:p>
                  </a:txBody>
                  <a:tcPr>
                    <a:solidFill>
                      <a:srgbClr val="1B4886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API response time (P95)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&lt; 200 ms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&gt; 500 ms for 5 min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Dashboard load time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&lt; 2 s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&gt; 4 s for 3 min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Employee profile generation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&lt; 500 ms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Risk engine batch (1,000 employees)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&lt; 2 min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&gt; 3 min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Compliance report generation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&lt; 30 s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&gt; 60 s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Tenant provisioning (Temporal)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&lt; 5 min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Training data sync latency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&lt; 1 hr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Tenant context resolution (cached)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&lt; 5 ms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Right-to-erasure completion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&lt; 72 hrs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30 day legal max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DLQ alert threshold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Depth &gt; 0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PagerDuty within 5 min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DB replication lag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&lt; 5 s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&gt; 60 s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</a:tr>
              <a:tr h="38686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Kafka consumer lag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&lt; 1,000 msgs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</a:rPr>
                        <a:t>&gt; 5,000 for 5 min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498079" y="1078992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196F3"/>
                </a:solidFill>
              </a:rPr>
              <a:t>SLA Guarantees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79" y="1508760"/>
            <a:ext cx="4480560" cy="1097280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35240" y="1600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196F3"/>
                </a:solidFill>
              </a:rPr>
              <a:t>Starter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1554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000" b="1">
                <a:solidFill>
                  <a:srgbClr val="2196F3"/>
                </a:solidFill>
              </a:rPr>
              <a:t>99.5%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210312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F0FE"/>
                </a:solidFill>
              </a:rPr>
              <a:t>uptime SLA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2743200"/>
            <a:ext cx="4480560" cy="1097280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2834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CAF50"/>
                </a:solidFill>
              </a:rPr>
              <a:t>Pro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27889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000" b="1">
                <a:solidFill>
                  <a:srgbClr val="4CAF50"/>
                </a:solidFill>
              </a:rPr>
              <a:t>99.5%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333756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F0FE"/>
                </a:solidFill>
              </a:rPr>
              <a:t>uptime SLA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79" y="3977639"/>
            <a:ext cx="4480560" cy="1097280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40690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9800"/>
                </a:solidFill>
              </a:rPr>
              <a:t>Enterprise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4023359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000" b="1">
                <a:solidFill>
                  <a:srgbClr val="FF9800"/>
                </a:solidFill>
              </a:rPr>
              <a:t>99.9%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457200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F0FE"/>
                </a:solidFill>
              </a:rPr>
              <a:t>uptime SLA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489204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196F3"/>
                </a:solidFill>
              </a:rPr>
              <a:t>Role Permissions Highlights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5285232"/>
            <a:ext cx="44805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FE"/>
                </a:solidFill>
              </a:rPr>
              <a:t>Trainer: View profiles, assign interventions, log sessions, human-review gate
L&amp;D Administrator: Rule authoring, report generation, user management, approve interventions
L&amp;D Manager: Assign interventions, approve, view dashboards
Employee: View own profile, manage own consent, request own data erasure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4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20-Week Delivery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F0FE"/>
                </a:solidFill>
              </a:rPr>
              <a:t>Phased build plan — Feb to Jun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51560"/>
            <a:ext cx="2267712" cy="7772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1051560"/>
            <a:ext cx="22677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Phase 1
Wks 1–4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1463040"/>
            <a:ext cx="2267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Foundation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847088"/>
            <a:ext cx="2267712" cy="4572000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901952"/>
            <a:ext cx="2084831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FFFFFF"/>
                </a:solidFill>
              </a:rPr>
              <a:t>▸  Auth Service — JWKS · OAuth2 · SAML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FFFFF"/>
                </a:solidFill>
              </a:rPr>
              <a:t>▸  Tenant Mgmt + Temporal provisioning saga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FFFFF"/>
                </a:solidFill>
              </a:rPr>
              <a:t>▸  Kong API Gateway + tenant routing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FFFFF"/>
                </a:solidFill>
              </a:rPr>
              <a:t>▸  DB isolation (all 3 tiers) + Vault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FFFFF"/>
                </a:solidFill>
              </a:rPr>
              <a:t>▸  Kafka + Debezium + outbox per service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0" y="1051560"/>
            <a:ext cx="2267712" cy="7772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1051560"/>
            <a:ext cx="22677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Phase 2
Wks 5–8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1463040"/>
            <a:ext cx="2267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Core L&amp;D Services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0" y="1847088"/>
            <a:ext cx="2267712" cy="4572000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1901952"/>
            <a:ext cx="2084831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FFFFFF"/>
                </a:solidFill>
              </a:rPr>
              <a:t>▸  Ingestion Service + idempotency + CSV upload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FFFFF"/>
                </a:solidFill>
              </a:rPr>
              <a:t>▸  Employee Profile Service (CDC-fed)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FFFFF"/>
                </a:solidFill>
              </a:rPr>
              <a:t>▸  Risk Engine + human-review gate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FFFFF"/>
                </a:solidFill>
              </a:rPr>
              <a:t>▸  Rule Management + test sandbox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1051560"/>
            <a:ext cx="2267712" cy="77724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1051560"/>
            <a:ext cx="22677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Phase 3
Wks 9–12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1463040"/>
            <a:ext cx="2267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Intervention + Consent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60" y="1847088"/>
            <a:ext cx="2267712" cy="4572000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1901952"/>
            <a:ext cx="2084831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FFFFFF"/>
                </a:solidFill>
              </a:rPr>
              <a:t>▸  Intervention Service (Temporal workflow)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FFFFF"/>
                </a:solidFill>
              </a:rPr>
              <a:t>▸  Consent Service + opt-out + DPDP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FFFFF"/>
                </a:solidFill>
              </a:rPr>
              <a:t>▸  Notification Service + WebSocket gateway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FFFFF"/>
                </a:solidFill>
              </a:rPr>
              <a:t>▸  Audit Service — hash-chain + S3 Object Lock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1051560"/>
            <a:ext cx="2267712" cy="7772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0" y="1051560"/>
            <a:ext cx="22677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Phase 4
Wks 13–16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1463040"/>
            <a:ext cx="2267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Reporting + Dashboards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0" y="1847088"/>
            <a:ext cx="2267712" cy="4572000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1901952"/>
            <a:ext cx="2084831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FFFFFF"/>
                </a:solidFill>
              </a:rPr>
              <a:t>▸  Reporting Service (CDC CQRS read model)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FFFFF"/>
                </a:solidFill>
              </a:rPr>
              <a:t>▸  React dashboards all 4 roles — WCAG 2.1 AA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FFFFF"/>
                </a:solidFill>
              </a:rPr>
              <a:t>▸  Unleash feature flags integration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FFFFF"/>
                </a:solidFill>
              </a:rPr>
              <a:t>▸  FinOps — Kubecost + Grafana cost dashboard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92640" y="1051560"/>
            <a:ext cx="2267712" cy="7772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0" y="1051560"/>
            <a:ext cx="22677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Phase 5
Wks 17–20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1463040"/>
            <a:ext cx="2267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Compliance + Go-Live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92640" y="1847088"/>
            <a:ext cx="2267712" cy="4572000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84080" y="1901952"/>
            <a:ext cx="2084831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FFFFFF"/>
                </a:solidFill>
              </a:rPr>
              <a:t>▸  Right-to-erasure Temporal saga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FFFFF"/>
                </a:solidFill>
              </a:rPr>
              <a:t>▸  GDPR · DPDP · CCPA · PIPEDA controls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FFFFF"/>
                </a:solidFill>
              </a:rPr>
              <a:t>▸  EU + India data residency pinning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FFFFF"/>
                </a:solidFill>
              </a:rPr>
              <a:t>▸  Load testing + penetration test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FFFFF"/>
                </a:solidFill>
              </a:rPr>
              <a:t>▸  Production deploy + hypercare week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0A4AE"/>
                </a:solidFill>
              </a:rPr>
              <a:t>All phases gate on the previous phase. Phase 5 includes quarterly pentest, SOC 2 Type II controls documentation, and WCAG 2.1 AA audit.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4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Technology Stack Summary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1024128"/>
          <a:ext cx="11795760" cy="571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3931920"/>
                <a:gridCol w="3931920"/>
              </a:tblGrid>
              <a:tr h="28575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>
                    <a:solidFill>
                      <a:srgbClr val="1B48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Technology</a:t>
                      </a:r>
                    </a:p>
                  </a:txBody>
                  <a:tcPr>
                    <a:solidFill>
                      <a:srgbClr val="1B48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>
                    <a:solidFill>
                      <a:srgbClr val="1B4886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Backend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Spring Boot 3.x (Java 21)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Single primary — polyglot eliminated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Workflow Engine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Temporal OSS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Sagas: provisioning, intervention, erasure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Frontend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React 18 + TypeScript + Vite + Tailwind + shadcn/ui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WCAG 2.1 AA; shared design system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Primary Database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PostgreSQL 16+ (JSONB for rules)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Per-service isolation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Cache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Redis 7.x (ElastiCache / self-hosted, Sentinel)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Tenant ctx, profiles, sessions, JWKS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Event Bus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Apache Kafka (AWS MSK / Confluent)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Tenant-scoped topics; outbox → Debezium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Event Schema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Confluent Schema Registry + Protobuf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FULL compatibility — backward/forward safe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CDC / Outbox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Debezium (PostgreSQL → Kafka)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Outbox table per service — exactly-once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API Gateway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Kong Gateway OSS (K8s-native, config-as-code)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AWS API GW as AWS-pure alternative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Service Mesh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Istio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mTLS · circuit breaker · retries · timeouts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Container Orch.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Kubernetes (Amazon EKS)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Multi-namespace per tenant tier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CI/CD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GitHub Actions + ArgoCD (GitOps)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dev → test → staging → [gate] → prod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Secrets / KMS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HashiCorp Vault + AWS KMS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Per-tenant namespace; envelope encryption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Observability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OpenTelemetry → Prometheus · Tempo · Loki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Unified OTel; Grafana dashboards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Error Tracking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Sentry (self-hosted or cloud)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Code-level errors + performance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Feature Flags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Unleash OSS (self-hosted)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Release flags + tenant plan flags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Billing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Stripe (metered usage)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Usage tracked per tenant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Object Storage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AWS S3 + Object Lock (WORM)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Reports, audit archives, evidence</a:t>
                      </a:r>
                    </a:p>
                  </a:txBody>
                  <a:tcPr>
                    <a:solidFill>
                      <a:srgbClr val="122038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Backups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pgBackRest + Velero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</a:rPr>
                        <a:t>WAL archiving + K8s manifest snapshots</a:t>
                      </a:r>
                    </a:p>
                  </a:txBody>
                  <a:tcPr>
                    <a:solidFill>
                      <a:srgbClr val="1A2B4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4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Next Steps &amp;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669280" cy="38404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13385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01.  Architecture Sign-off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99616"/>
            <a:ext cx="5669280" cy="1097280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60020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F0FE"/>
                </a:solidFill>
              </a:rPr>
              <a:t>Stakeholders review and approve v2.0 architecture — resolve any open RFCs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097280"/>
            <a:ext cx="5669280" cy="384048"/>
          </a:xfrm>
          <a:prstGeom prst="rect">
            <a:avLst/>
          </a:prstGeom>
          <a:solidFill>
            <a:srgbClr val="1B4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3368" y="113385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02.  Team Resourcing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499616"/>
            <a:ext cx="5669280" cy="1097280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0020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F0FE"/>
                </a:solidFill>
              </a:rPr>
              <a:t>Confirm squad allocation: 2 squads × 4 engineers + 1 DevOps + 1 Security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697480"/>
            <a:ext cx="5669280" cy="38404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73405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03.  Phase 1 Kick-off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099816"/>
            <a:ext cx="5669280" cy="1097280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320040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F0FE"/>
                </a:solidFill>
              </a:rPr>
              <a:t>Sprint planning: Auth Service + Tenant Mgmt + Kong Gateway + Kafka + Vault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697480"/>
            <a:ext cx="5669280" cy="384048"/>
          </a:xfrm>
          <a:prstGeom prst="rect">
            <a:avLst/>
          </a:prstGeom>
          <a:solidFill>
            <a:srgbClr val="1B4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273405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04.  Compliance Legal Review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099816"/>
            <a:ext cx="5669280" cy="1097280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20040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F0FE"/>
                </a:solidFill>
              </a:rPr>
              <a:t>DPA template, consent disclosure texts, data residency pinning sign-off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297680"/>
            <a:ext cx="5669280" cy="38404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433425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05.  Pentest Scoping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700016"/>
            <a:ext cx="5669280" cy="1097280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480060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F0FE"/>
                </a:solidFill>
              </a:rPr>
              <a:t>Schedule external penetration test for end of Phase 5 (Week 18–19)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4297680"/>
            <a:ext cx="5669280" cy="384048"/>
          </a:xfrm>
          <a:prstGeom prst="rect">
            <a:avLst/>
          </a:prstGeom>
          <a:solidFill>
            <a:srgbClr val="1B4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3368" y="433425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06.  First Customer Onboarding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4700016"/>
            <a:ext cx="5669280" cy="1097280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80060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F0FE"/>
                </a:solidFill>
              </a:rPr>
              <a:t>Identify design-partner customer — pilot tenant provisioning in staging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0" y="653796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07D8B"/>
                </a:solidFill>
              </a:rPr>
              <a:t>LearnTrack SaaS Platform  |  Architecture v2.0  |  © 2026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