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6" r:id="rId2"/>
    <p:sldId id="278" r:id="rId3"/>
    <p:sldId id="258" r:id="rId4"/>
    <p:sldId id="259" r:id="rId5"/>
    <p:sldId id="271" r:id="rId6"/>
    <p:sldId id="268" r:id="rId7"/>
    <p:sldId id="277" r:id="rId8"/>
    <p:sldId id="274" r:id="rId9"/>
    <p:sldId id="261" r:id="rId10"/>
    <p:sldId id="265" r:id="rId11"/>
    <p:sldId id="262" r:id="rId12"/>
    <p:sldId id="263" r:id="rId13"/>
    <p:sldId id="264" r:id="rId14"/>
    <p:sldId id="267" r:id="rId15"/>
    <p:sldId id="269" r:id="rId16"/>
    <p:sldId id="270" r:id="rId17"/>
    <p:sldId id="266" r:id="rId18"/>
    <p:sldId id="272" r:id="rId19"/>
    <p:sldId id="27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CF1907-D614-C587-89A7-8B5630715911}" v="80" dt="2026-06-08T15:57:39.722"/>
    <p1510:client id="{A00CC716-44AA-4E7E-95B6-71C8465D14EE}" v="490" dt="2026-06-08T16:02:47.723"/>
    <p1510:client id="{F66BC963-6035-AB0B-1062-E8D76D7AC6BF}" v="135" dt="2026-06-08T15:19:06.720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2AC617-6F50-4F75-AB86-9AAF69859C5A}" type="datetimeFigureOut"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FC3FF2-D375-49C3-A284-4DD8CA279A7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90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65851-BA13-F3C6-4A8E-2CA0B9697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9A2201-56D7-717D-73E3-D1308C51C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BA805A-E842-F8E3-A6FF-0A2BE636A8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0A831-40AF-3AFC-2C80-25A2206880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34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32231-C96D-4CC6-C764-ECE511AF4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506E23-FC4C-CC93-0AF4-916DA09426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8BC4F1-F9F6-5999-795B-0D9EC6673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B5636-DA2D-8081-44F7-779EF7813F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8039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214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013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478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C710B-EB21-E42B-169A-78E84B908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30226A8-9F5C-DFAD-582B-03C680008832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43ACB0D-379B-D055-199A-4D932FA64EE8}"/>
              </a:ext>
            </a:extLst>
          </p:cNvPr>
          <p:cNvSpPr/>
          <p:nvPr/>
        </p:nvSpPr>
        <p:spPr>
          <a:xfrm>
            <a:off x="5632704" y="173849"/>
            <a:ext cx="914400" cy="914400"/>
          </a:xfrm>
          <a:prstGeom prst="roundRect">
            <a:avLst>
              <a:gd name="adj" fmla="val 15000"/>
            </a:avLst>
          </a:prstGeom>
          <a:solidFill>
            <a:srgbClr val="2A3F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D49184F-C73A-5A07-8041-A98DE0BE71D7}"/>
              </a:ext>
            </a:extLst>
          </p:cNvPr>
          <p:cNvSpPr/>
          <p:nvPr/>
        </p:nvSpPr>
        <p:spPr>
          <a:xfrm>
            <a:off x="5632704" y="13151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000000"/>
                </a:solidFill>
              </a:rPr>
              <a:t>📊</a:t>
            </a:r>
            <a:endParaRPr lang="en-US" sz="3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35A3C19-96FE-6FEE-AF2B-68A0C3BC07B4}"/>
              </a:ext>
            </a:extLst>
          </p:cNvPr>
          <p:cNvSpPr/>
          <p:nvPr/>
        </p:nvSpPr>
        <p:spPr>
          <a:xfrm>
            <a:off x="280223" y="1090461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LearnTrack </a:t>
            </a:r>
            <a:r>
              <a:rPr lang="en-US" sz="5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CLP</a:t>
            </a:r>
            <a:endParaRPr lang="en-US" sz="54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F48D1FB-FBD5-D469-AE89-F92D1C0870EE}"/>
              </a:ext>
            </a:extLst>
          </p:cNvPr>
          <p:cNvSpPr/>
          <p:nvPr/>
        </p:nvSpPr>
        <p:spPr>
          <a:xfrm>
            <a:off x="1554480" y="4023360"/>
            <a:ext cx="1993392" cy="384048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 w="9525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8B552C7-17A3-E840-7BEE-CB5C5BF7003B}"/>
              </a:ext>
            </a:extLst>
          </p:cNvPr>
          <p:cNvSpPr/>
          <p:nvPr/>
        </p:nvSpPr>
        <p:spPr>
          <a:xfrm>
            <a:off x="1554480" y="4023360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Multi-Tenant SaaS</a:t>
            </a:r>
            <a:endParaRPr lang="en-US" sz="11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3338AB0-F9B9-09FD-0323-D487300725E5}"/>
              </a:ext>
            </a:extLst>
          </p:cNvPr>
          <p:cNvSpPr/>
          <p:nvPr/>
        </p:nvSpPr>
        <p:spPr>
          <a:xfrm>
            <a:off x="3685032" y="4023360"/>
            <a:ext cx="1444752" cy="384048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 w="9525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5C0AA66-45CF-97D7-E6A0-984D45449603}"/>
              </a:ext>
            </a:extLst>
          </p:cNvPr>
          <p:cNvSpPr/>
          <p:nvPr/>
        </p:nvSpPr>
        <p:spPr>
          <a:xfrm>
            <a:off x="3685032" y="4023360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Event-Driven</a:t>
            </a:r>
            <a:endParaRPr lang="en-US" sz="11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331779D-E36A-BFBC-A237-F6625EBF20A2}"/>
              </a:ext>
            </a:extLst>
          </p:cNvPr>
          <p:cNvSpPr/>
          <p:nvPr/>
        </p:nvSpPr>
        <p:spPr>
          <a:xfrm>
            <a:off x="5266944" y="4023360"/>
            <a:ext cx="2999232" cy="384048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 w="9525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AE626FD-E812-0616-8F35-B8E0E164B032}"/>
              </a:ext>
            </a:extLst>
          </p:cNvPr>
          <p:cNvSpPr/>
          <p:nvPr/>
        </p:nvSpPr>
        <p:spPr>
          <a:xfrm>
            <a:off x="5266944" y="4023360"/>
            <a:ext cx="2999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GDPR / CCPA / DPDP / PIPEDA</a:t>
            </a:r>
            <a:endParaRPr lang="en-US" sz="11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E58BF0C-2A3B-81FB-F46E-28093F221FD2}"/>
              </a:ext>
            </a:extLst>
          </p:cNvPr>
          <p:cNvSpPr/>
          <p:nvPr/>
        </p:nvSpPr>
        <p:spPr>
          <a:xfrm>
            <a:off x="8403336" y="4023360"/>
            <a:ext cx="1901952" cy="384048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 w="9525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44C5005-672B-97D3-738A-4080D074019A}"/>
              </a:ext>
            </a:extLst>
          </p:cNvPr>
          <p:cNvSpPr/>
          <p:nvPr/>
        </p:nvSpPr>
        <p:spPr>
          <a:xfrm>
            <a:off x="8403336" y="402336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☁️ Cloud Agnostic</a:t>
            </a:r>
            <a:endParaRPr lang="en-US" sz="11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55B790F-2425-9753-B1A0-7AF67538A70A}"/>
              </a:ext>
            </a:extLst>
          </p:cNvPr>
          <p:cNvSpPr/>
          <p:nvPr/>
        </p:nvSpPr>
        <p:spPr>
          <a:xfrm>
            <a:off x="10442448" y="4023360"/>
            <a:ext cx="1170432" cy="384048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 w="9525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A8D470A-32BA-89B6-6129-C6CB61A7B551}"/>
              </a:ext>
            </a:extLst>
          </p:cNvPr>
          <p:cNvSpPr/>
          <p:nvPr/>
        </p:nvSpPr>
        <p:spPr>
          <a:xfrm>
            <a:off x="10442448" y="4023360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🔬 POC Live</a:t>
            </a:r>
            <a:endParaRPr lang="en-US" sz="11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2B47449-6A8C-689F-A541-89BE238940C0}"/>
              </a:ext>
            </a:extLst>
          </p:cNvPr>
          <p:cNvSpPr/>
          <p:nvPr/>
        </p:nvSpPr>
        <p:spPr>
          <a:xfrm>
            <a:off x="422790" y="5906989"/>
            <a:ext cx="11274552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100" i="1">
                <a:solidFill>
                  <a:srgbClr val="94A3B8"/>
                </a:solidFill>
                <a:latin typeface="Segoe UI"/>
                <a:ea typeface="Segoe UI" pitchFamily="34" charset="-122"/>
                <a:cs typeface="Segoe UI"/>
              </a:rPr>
              <a:t>Prepared by Propeller Batch 23 – Group 4</a:t>
            </a:r>
            <a:endParaRPr lang="en-US" sz="11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7DF679-8B0A-C88A-2394-F520243966D0}"/>
              </a:ext>
            </a:extLst>
          </p:cNvPr>
          <p:cNvSpPr txBox="1"/>
          <p:nvPr/>
        </p:nvSpPr>
        <p:spPr>
          <a:xfrm>
            <a:off x="914400" y="2178829"/>
            <a:ext cx="99600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Corporate Learning Progress,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761DAE-E3DE-53C6-EC2E-49BA2E458D3F}"/>
              </a:ext>
            </a:extLst>
          </p:cNvPr>
          <p:cNvSpPr txBox="1"/>
          <p:nvPr/>
        </p:nvSpPr>
        <p:spPr>
          <a:xfrm>
            <a:off x="914400" y="2778762"/>
            <a:ext cx="99600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196F3"/>
                </a:solidFill>
              </a:rPr>
              <a:t>Intervention &amp; Compliance Tracking System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411894-BA59-1C11-BC8A-29E79AE3A173}"/>
              </a:ext>
            </a:extLst>
          </p:cNvPr>
          <p:cNvSpPr txBox="1"/>
          <p:nvPr/>
        </p:nvSpPr>
        <p:spPr>
          <a:xfrm>
            <a:off x="914400" y="3363637"/>
            <a:ext cx="9960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8F0FE"/>
                </a:solidFill>
              </a:rPr>
              <a:t>Production-Ready Multi-Tenant SaaS </a:t>
            </a:r>
            <a:r>
              <a:rPr lang="en-US" sz="1800" b="0">
                <a:solidFill>
                  <a:srgbClr val="E8F0FE"/>
                </a:solidFill>
              </a:rPr>
              <a:t>Application</a:t>
            </a:r>
            <a:r>
              <a:rPr sz="1800" b="0">
                <a:solidFill>
                  <a:srgbClr val="E8F0FE"/>
                </a:solidFill>
              </a:rPr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DF0693-1167-95DB-C008-31951B392E6A}"/>
              </a:ext>
            </a:extLst>
          </p:cNvPr>
          <p:cNvSpPr txBox="1"/>
          <p:nvPr/>
        </p:nvSpPr>
        <p:spPr>
          <a:xfrm>
            <a:off x="914400" y="3584358"/>
            <a:ext cx="996007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sz="1300" b="0">
              <a:solidFill>
                <a:srgbClr val="90A4A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651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47F8F-3368-011A-183F-1F6A7C4C8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BCC5567-943F-A700-E2B7-A4447D899287}"/>
              </a:ext>
            </a:extLst>
          </p:cNvPr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914E63E-2899-A24A-EE66-1A01B7856B55}"/>
              </a:ext>
            </a:extLst>
          </p:cNvPr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595862F-B107-CF8B-D31F-3B83CE21E3D5}"/>
              </a:ext>
            </a:extLst>
          </p:cNvPr>
          <p:cNvSpPr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Agenda</a:t>
            </a:r>
            <a:endParaRPr lang="en-US" sz="2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35ABFE6-54AB-E835-F15A-46D9902ED0F2}"/>
              </a:ext>
            </a:extLst>
          </p:cNvPr>
          <p:cNvSpPr/>
          <p:nvPr/>
        </p:nvSpPr>
        <p:spPr>
          <a:xfrm>
            <a:off x="411480" y="54864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we'll cover in this session</a:t>
            </a:r>
            <a:endParaRPr lang="en-US" sz="11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179C656-93AA-5F22-CFF7-4CBD3FD00050}"/>
              </a:ext>
            </a:extLst>
          </p:cNvPr>
          <p:cNvSpPr/>
          <p:nvPr/>
        </p:nvSpPr>
        <p:spPr>
          <a:xfrm>
            <a:off x="457200" y="1143000"/>
            <a:ext cx="371246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1284A35-042C-3102-7338-227901B466CE}"/>
              </a:ext>
            </a:extLst>
          </p:cNvPr>
          <p:cNvSpPr/>
          <p:nvPr/>
        </p:nvSpPr>
        <p:spPr>
          <a:xfrm>
            <a:off x="621792" y="13075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4346CD6-0CF6-CE3E-331D-FC82F7C50FF7}"/>
              </a:ext>
            </a:extLst>
          </p:cNvPr>
          <p:cNvSpPr/>
          <p:nvPr/>
        </p:nvSpPr>
        <p:spPr>
          <a:xfrm>
            <a:off x="621792" y="1307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C9EEB43-5179-66D6-7D5E-F100F6650691}"/>
              </a:ext>
            </a:extLst>
          </p:cNvPr>
          <p:cNvSpPr/>
          <p:nvPr/>
        </p:nvSpPr>
        <p:spPr>
          <a:xfrm>
            <a:off x="1097280" y="1280160"/>
            <a:ext cx="2935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13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B139267-6CD5-1DEA-6324-907D1121D372}"/>
              </a:ext>
            </a:extLst>
          </p:cNvPr>
          <p:cNvSpPr/>
          <p:nvPr/>
        </p:nvSpPr>
        <p:spPr>
          <a:xfrm>
            <a:off x="1097280" y="1691640"/>
            <a:ext cx="2935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platform exists and what pain it solves</a:t>
            </a:r>
            <a:endParaRPr lang="en-US" sz="10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4144504-3536-C863-6DFA-810C0E1362D6}"/>
              </a:ext>
            </a:extLst>
          </p:cNvPr>
          <p:cNvSpPr/>
          <p:nvPr/>
        </p:nvSpPr>
        <p:spPr>
          <a:xfrm>
            <a:off x="4334256" y="1143000"/>
            <a:ext cx="371246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DE02E8B-1912-1ABC-2C8B-A40DAFF481B8}"/>
              </a:ext>
            </a:extLst>
          </p:cNvPr>
          <p:cNvSpPr/>
          <p:nvPr/>
        </p:nvSpPr>
        <p:spPr>
          <a:xfrm>
            <a:off x="4498848" y="13075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6E8B993-B9F6-3958-4BC5-810D657601D8}"/>
              </a:ext>
            </a:extLst>
          </p:cNvPr>
          <p:cNvSpPr/>
          <p:nvPr/>
        </p:nvSpPr>
        <p:spPr>
          <a:xfrm>
            <a:off x="4498848" y="1307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7B5A01E-DF92-E28E-1EEF-A4EB0CEDEE8A}"/>
              </a:ext>
            </a:extLst>
          </p:cNvPr>
          <p:cNvSpPr/>
          <p:nvPr/>
        </p:nvSpPr>
        <p:spPr>
          <a:xfrm>
            <a:off x="4974336" y="1280160"/>
            <a:ext cx="2935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Overview</a:t>
            </a:r>
            <a:endParaRPr lang="en-US" sz="13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0248B56-54D1-BAC2-3D54-A3EED16A3A3D}"/>
              </a:ext>
            </a:extLst>
          </p:cNvPr>
          <p:cNvSpPr/>
          <p:nvPr/>
        </p:nvSpPr>
        <p:spPr>
          <a:xfrm>
            <a:off x="4974336" y="1691640"/>
            <a:ext cx="2935224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30000"/>
              </a:lnSpc>
            </a:pPr>
            <a:r>
              <a:rPr lang="en-US" sz="1000">
                <a:solidFill>
                  <a:srgbClr val="64748B"/>
                </a:solidFill>
                <a:latin typeface="Segoe UI"/>
                <a:ea typeface="Segoe UI" pitchFamily="34" charset="-122"/>
                <a:cs typeface="Segoe UI"/>
              </a:rPr>
              <a:t>What </a:t>
            </a:r>
            <a:r>
              <a:rPr lang="en-US" sz="1000" err="1">
                <a:solidFill>
                  <a:srgbClr val="64748B"/>
                </a:solidFill>
                <a:latin typeface="Segoe UI"/>
                <a:ea typeface="Segoe UI" pitchFamily="34" charset="-122"/>
                <a:cs typeface="Segoe UI"/>
              </a:rPr>
              <a:t>LearnTrack</a:t>
            </a:r>
            <a:r>
              <a:rPr lang="en-US" sz="1000">
                <a:solidFill>
                  <a:srgbClr val="64748B"/>
                </a:solidFill>
                <a:latin typeface="Segoe UI"/>
                <a:ea typeface="Segoe UI" pitchFamily="34" charset="-122"/>
                <a:cs typeface="Segoe UI"/>
              </a:rPr>
              <a:t> CLP does and how it delivers value, subscription tiers</a:t>
            </a:r>
            <a:endParaRPr lang="en-US" sz="10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35FABD4-9BEC-6EC2-51C2-824B93CB445E}"/>
              </a:ext>
            </a:extLst>
          </p:cNvPr>
          <p:cNvSpPr/>
          <p:nvPr/>
        </p:nvSpPr>
        <p:spPr>
          <a:xfrm>
            <a:off x="8211312" y="1143000"/>
            <a:ext cx="371246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73D24A4-C40E-1FBF-2ADA-636B46C00270}"/>
              </a:ext>
            </a:extLst>
          </p:cNvPr>
          <p:cNvSpPr/>
          <p:nvPr/>
        </p:nvSpPr>
        <p:spPr>
          <a:xfrm>
            <a:off x="8375904" y="13075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4F1D770-54C1-0D61-E5EC-BE228B2553EA}"/>
              </a:ext>
            </a:extLst>
          </p:cNvPr>
          <p:cNvSpPr/>
          <p:nvPr/>
        </p:nvSpPr>
        <p:spPr>
          <a:xfrm>
            <a:off x="8375904" y="1307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9442DD8-1514-739E-4B9E-FDD1723FF59C}"/>
              </a:ext>
            </a:extLst>
          </p:cNvPr>
          <p:cNvSpPr/>
          <p:nvPr/>
        </p:nvSpPr>
        <p:spPr>
          <a:xfrm>
            <a:off x="8851392" y="1280160"/>
            <a:ext cx="2935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13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9CB11FC-922E-77DB-C7A9-83C22A42161E}"/>
              </a:ext>
            </a:extLst>
          </p:cNvPr>
          <p:cNvSpPr/>
          <p:nvPr/>
        </p:nvSpPr>
        <p:spPr>
          <a:xfrm>
            <a:off x="8851392" y="1691640"/>
            <a:ext cx="2935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Microservices, Kafka event bus, multi-tenancy</a:t>
            </a:r>
            <a:endParaRPr lang="en-US" sz="10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A0F51F23-B204-6B30-A8BF-660548243AED}"/>
              </a:ext>
            </a:extLst>
          </p:cNvPr>
          <p:cNvSpPr/>
          <p:nvPr/>
        </p:nvSpPr>
        <p:spPr>
          <a:xfrm>
            <a:off x="457200" y="2862072"/>
            <a:ext cx="371246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6E58D65-BFA5-18DB-4416-68795992A149}"/>
              </a:ext>
            </a:extLst>
          </p:cNvPr>
          <p:cNvSpPr/>
          <p:nvPr/>
        </p:nvSpPr>
        <p:spPr>
          <a:xfrm>
            <a:off x="621792" y="30266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3EB3A44-006A-8166-BC4C-AF89DB7B4A27}"/>
              </a:ext>
            </a:extLst>
          </p:cNvPr>
          <p:cNvSpPr/>
          <p:nvPr/>
        </p:nvSpPr>
        <p:spPr>
          <a:xfrm>
            <a:off x="621792" y="3026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21D633E-E819-55D1-5906-B2CCA1D80790}"/>
              </a:ext>
            </a:extLst>
          </p:cNvPr>
          <p:cNvSpPr/>
          <p:nvPr/>
        </p:nvSpPr>
        <p:spPr>
          <a:xfrm>
            <a:off x="1097280" y="2999232"/>
            <a:ext cx="2935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Value Chain</a:t>
            </a:r>
            <a:endParaRPr lang="en-US" sz="13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59D3137-9F67-A3F0-F67D-D7595CA04E6C}"/>
              </a:ext>
            </a:extLst>
          </p:cNvPr>
          <p:cNvSpPr/>
          <p:nvPr/>
        </p:nvSpPr>
        <p:spPr>
          <a:xfrm>
            <a:off x="1097280" y="3410712"/>
            <a:ext cx="2935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 → Profile → Risk → Intervention → Report</a:t>
            </a:r>
            <a:endParaRPr lang="en-US" sz="100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1C2B1B65-8323-0454-46C6-869050A4C2A5}"/>
              </a:ext>
            </a:extLst>
          </p:cNvPr>
          <p:cNvSpPr/>
          <p:nvPr/>
        </p:nvSpPr>
        <p:spPr>
          <a:xfrm>
            <a:off x="4340578" y="4598077"/>
            <a:ext cx="371246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240123D9-4BC0-58B1-4108-90C15F82E7A3}"/>
              </a:ext>
            </a:extLst>
          </p:cNvPr>
          <p:cNvSpPr/>
          <p:nvPr/>
        </p:nvSpPr>
        <p:spPr>
          <a:xfrm>
            <a:off x="4505170" y="476266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29143823-9DF7-3B17-AF1E-9FC63FE113B6}"/>
              </a:ext>
            </a:extLst>
          </p:cNvPr>
          <p:cNvSpPr/>
          <p:nvPr/>
        </p:nvSpPr>
        <p:spPr>
          <a:xfrm>
            <a:off x="4505170" y="4762669"/>
            <a:ext cx="384048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Segoe UI"/>
                <a:cs typeface="Segoe UI"/>
              </a:rPr>
              <a:t>8</a:t>
            </a: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04BC4C67-450B-86E4-BF4D-04A7E7EA03C3}"/>
              </a:ext>
            </a:extLst>
          </p:cNvPr>
          <p:cNvSpPr/>
          <p:nvPr/>
        </p:nvSpPr>
        <p:spPr>
          <a:xfrm>
            <a:off x="4980658" y="4735237"/>
            <a:ext cx="2935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 &amp; Compliance</a:t>
            </a:r>
            <a:endParaRPr lang="en-US" sz="130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1476AC36-9F9F-1EEF-AE55-AF6AE1A020D3}"/>
              </a:ext>
            </a:extLst>
          </p:cNvPr>
          <p:cNvSpPr/>
          <p:nvPr/>
        </p:nvSpPr>
        <p:spPr>
          <a:xfrm>
            <a:off x="4980658" y="5146717"/>
            <a:ext cx="2935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Opt-out, Right-to-Erasure, pseudonymisation</a:t>
            </a:r>
            <a:endParaRPr lang="en-US" sz="100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D1B2DA57-18D9-727E-4EA3-ADFE7B3A9D2F}"/>
              </a:ext>
            </a:extLst>
          </p:cNvPr>
          <p:cNvSpPr/>
          <p:nvPr/>
        </p:nvSpPr>
        <p:spPr>
          <a:xfrm>
            <a:off x="4322967" y="2893455"/>
            <a:ext cx="371246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AFF62A3E-B11E-58CD-3099-CBC384D43429}"/>
              </a:ext>
            </a:extLst>
          </p:cNvPr>
          <p:cNvSpPr/>
          <p:nvPr/>
        </p:nvSpPr>
        <p:spPr>
          <a:xfrm>
            <a:off x="4487559" y="3058047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DE05C187-F0C3-62A4-0690-36AC7E9286B1}"/>
              </a:ext>
            </a:extLst>
          </p:cNvPr>
          <p:cNvSpPr/>
          <p:nvPr/>
        </p:nvSpPr>
        <p:spPr>
          <a:xfrm>
            <a:off x="4487559" y="3058047"/>
            <a:ext cx="384048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187CA743-FA44-51A8-BFA4-E212FF9BB9E3}"/>
              </a:ext>
            </a:extLst>
          </p:cNvPr>
          <p:cNvSpPr/>
          <p:nvPr/>
        </p:nvSpPr>
        <p:spPr>
          <a:xfrm>
            <a:off x="4963047" y="3030615"/>
            <a:ext cx="2935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Roles &amp; Dashboards</a:t>
            </a:r>
            <a:endParaRPr lang="en-US" sz="130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162B32F7-FAE7-901A-A98B-A3771C36690E}"/>
              </a:ext>
            </a:extLst>
          </p:cNvPr>
          <p:cNvSpPr/>
          <p:nvPr/>
        </p:nvSpPr>
        <p:spPr>
          <a:xfrm>
            <a:off x="4963047" y="3442095"/>
            <a:ext cx="2935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Trainer, L&amp;D Admin, L&amp;D Manager, Employee</a:t>
            </a:r>
            <a:endParaRPr lang="en-US" sz="100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575A4CDF-2C07-5BC4-E903-E61A25C26A2A}"/>
              </a:ext>
            </a:extLst>
          </p:cNvPr>
          <p:cNvSpPr/>
          <p:nvPr/>
        </p:nvSpPr>
        <p:spPr>
          <a:xfrm>
            <a:off x="8211312" y="4581144"/>
            <a:ext cx="371246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4C19825B-90C9-E812-5F18-D021CC6B82FD}"/>
              </a:ext>
            </a:extLst>
          </p:cNvPr>
          <p:cNvSpPr/>
          <p:nvPr/>
        </p:nvSpPr>
        <p:spPr>
          <a:xfrm>
            <a:off x="8375904" y="47457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1171EAD0-4FA1-52D2-98F4-6A6AF4550401}"/>
              </a:ext>
            </a:extLst>
          </p:cNvPr>
          <p:cNvSpPr/>
          <p:nvPr/>
        </p:nvSpPr>
        <p:spPr>
          <a:xfrm>
            <a:off x="8375904" y="4745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30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B89DB5D9-B885-8DBE-622A-B56160FA1DA7}"/>
              </a:ext>
            </a:extLst>
          </p:cNvPr>
          <p:cNvSpPr/>
          <p:nvPr/>
        </p:nvSpPr>
        <p:spPr>
          <a:xfrm>
            <a:off x="8851392" y="4718304"/>
            <a:ext cx="2935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Stack, Plans &amp; Roadmap</a:t>
            </a:r>
            <a:endParaRPr lang="en-US" sz="130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0DCFE34F-A376-FB53-EBAC-793B9C13EB30}"/>
              </a:ext>
            </a:extLst>
          </p:cNvPr>
          <p:cNvSpPr/>
          <p:nvPr/>
        </p:nvSpPr>
        <p:spPr>
          <a:xfrm>
            <a:off x="8851392" y="5129784"/>
            <a:ext cx="2935224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64748B"/>
                </a:solidFill>
                <a:latin typeface="Segoe UI"/>
                <a:ea typeface="Segoe UI" pitchFamily="34" charset="-122"/>
                <a:cs typeface="Segoe UI"/>
              </a:rPr>
              <a:t>Infrastructure, delivery phases</a:t>
            </a:r>
            <a:endParaRPr lang="en-US" sz="1000">
              <a:latin typeface="Segoe UI"/>
              <a:cs typeface="Segoe UI"/>
            </a:endParaRPr>
          </a:p>
        </p:txBody>
      </p:sp>
      <p:sp>
        <p:nvSpPr>
          <p:cNvPr id="54" name="Shape 24">
            <a:extLst>
              <a:ext uri="{FF2B5EF4-FFF2-40B4-BE49-F238E27FC236}">
                <a16:creationId xmlns:a16="http://schemas.microsoft.com/office/drawing/2014/main" id="{4D9B7340-2B9E-1803-35A3-74E0B35A4F5D}"/>
              </a:ext>
            </a:extLst>
          </p:cNvPr>
          <p:cNvSpPr/>
          <p:nvPr/>
        </p:nvSpPr>
        <p:spPr>
          <a:xfrm>
            <a:off x="8132967" y="2918516"/>
            <a:ext cx="371246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25">
            <a:extLst>
              <a:ext uri="{FF2B5EF4-FFF2-40B4-BE49-F238E27FC236}">
                <a16:creationId xmlns:a16="http://schemas.microsoft.com/office/drawing/2014/main" id="{8A3DECF4-1B7D-7571-263C-29B4E5A8ACCC}"/>
              </a:ext>
            </a:extLst>
          </p:cNvPr>
          <p:cNvSpPr/>
          <p:nvPr/>
        </p:nvSpPr>
        <p:spPr>
          <a:xfrm>
            <a:off x="8297559" y="30831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26">
            <a:extLst>
              <a:ext uri="{FF2B5EF4-FFF2-40B4-BE49-F238E27FC236}">
                <a16:creationId xmlns:a16="http://schemas.microsoft.com/office/drawing/2014/main" id="{9B01F55B-30E7-2119-D5BB-83C663916F30}"/>
              </a:ext>
            </a:extLst>
          </p:cNvPr>
          <p:cNvSpPr/>
          <p:nvPr/>
        </p:nvSpPr>
        <p:spPr>
          <a:xfrm>
            <a:off x="8297559" y="3083108"/>
            <a:ext cx="384048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60" name="Text 27">
            <a:extLst>
              <a:ext uri="{FF2B5EF4-FFF2-40B4-BE49-F238E27FC236}">
                <a16:creationId xmlns:a16="http://schemas.microsoft.com/office/drawing/2014/main" id="{1F6F8A82-8D6B-2E8B-869A-BD17DDAA5601}"/>
              </a:ext>
            </a:extLst>
          </p:cNvPr>
          <p:cNvSpPr/>
          <p:nvPr/>
        </p:nvSpPr>
        <p:spPr>
          <a:xfrm>
            <a:off x="8773047" y="3055676"/>
            <a:ext cx="2935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Engine &amp; Human-Review Gate</a:t>
            </a:r>
            <a:endParaRPr lang="en-US" sz="1300"/>
          </a:p>
        </p:txBody>
      </p:sp>
      <p:sp>
        <p:nvSpPr>
          <p:cNvPr id="62" name="Text 28">
            <a:extLst>
              <a:ext uri="{FF2B5EF4-FFF2-40B4-BE49-F238E27FC236}">
                <a16:creationId xmlns:a16="http://schemas.microsoft.com/office/drawing/2014/main" id="{328C4D15-F4F7-FBF1-DC5D-7DCDF5CC441D}"/>
              </a:ext>
            </a:extLst>
          </p:cNvPr>
          <p:cNvSpPr/>
          <p:nvPr/>
        </p:nvSpPr>
        <p:spPr>
          <a:xfrm>
            <a:off x="8773047" y="3467156"/>
            <a:ext cx="2935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Rule-based classification &amp; GDPR Art.22 compliance</a:t>
            </a:r>
            <a:endParaRPr lang="en-US" sz="1000"/>
          </a:p>
        </p:txBody>
      </p:sp>
      <p:sp>
        <p:nvSpPr>
          <p:cNvPr id="64" name="Shape 29">
            <a:extLst>
              <a:ext uri="{FF2B5EF4-FFF2-40B4-BE49-F238E27FC236}">
                <a16:creationId xmlns:a16="http://schemas.microsoft.com/office/drawing/2014/main" id="{E14F9674-AE31-30A0-E86B-5BB5B25631BF}"/>
              </a:ext>
            </a:extLst>
          </p:cNvPr>
          <p:cNvSpPr/>
          <p:nvPr/>
        </p:nvSpPr>
        <p:spPr>
          <a:xfrm>
            <a:off x="410690" y="4628783"/>
            <a:ext cx="371246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30">
            <a:extLst>
              <a:ext uri="{FF2B5EF4-FFF2-40B4-BE49-F238E27FC236}">
                <a16:creationId xmlns:a16="http://schemas.microsoft.com/office/drawing/2014/main" id="{2D9DD3DC-6B2C-41C9-C473-177CCF67DD56}"/>
              </a:ext>
            </a:extLst>
          </p:cNvPr>
          <p:cNvSpPr/>
          <p:nvPr/>
        </p:nvSpPr>
        <p:spPr>
          <a:xfrm>
            <a:off x="575282" y="4793375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31">
            <a:extLst>
              <a:ext uri="{FF2B5EF4-FFF2-40B4-BE49-F238E27FC236}">
                <a16:creationId xmlns:a16="http://schemas.microsoft.com/office/drawing/2014/main" id="{9E9FB618-11D4-FACB-FDDA-4EA6B77882CF}"/>
              </a:ext>
            </a:extLst>
          </p:cNvPr>
          <p:cNvSpPr/>
          <p:nvPr/>
        </p:nvSpPr>
        <p:spPr>
          <a:xfrm>
            <a:off x="575282" y="4793375"/>
            <a:ext cx="384048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Segoe UI"/>
                <a:cs typeface="Segoe UI"/>
              </a:rPr>
              <a:t>7</a:t>
            </a:r>
          </a:p>
        </p:txBody>
      </p:sp>
      <p:sp>
        <p:nvSpPr>
          <p:cNvPr id="70" name="Text 32">
            <a:extLst>
              <a:ext uri="{FF2B5EF4-FFF2-40B4-BE49-F238E27FC236}">
                <a16:creationId xmlns:a16="http://schemas.microsoft.com/office/drawing/2014/main" id="{D62267BD-3F6E-429F-DC03-08D9C84A14F0}"/>
              </a:ext>
            </a:extLst>
          </p:cNvPr>
          <p:cNvSpPr/>
          <p:nvPr/>
        </p:nvSpPr>
        <p:spPr>
          <a:xfrm>
            <a:off x="1050770" y="4760299"/>
            <a:ext cx="2935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Intervention Lifecycle</a:t>
            </a:r>
            <a:endParaRPr lang="en-US" sz="1300"/>
          </a:p>
        </p:txBody>
      </p:sp>
      <p:sp>
        <p:nvSpPr>
          <p:cNvPr id="72" name="Text 33">
            <a:extLst>
              <a:ext uri="{FF2B5EF4-FFF2-40B4-BE49-F238E27FC236}">
                <a16:creationId xmlns:a16="http://schemas.microsoft.com/office/drawing/2014/main" id="{FF5F8CDD-ECF9-6E85-7BBE-99ADB13EFE4D}"/>
              </a:ext>
            </a:extLst>
          </p:cNvPr>
          <p:cNvSpPr/>
          <p:nvPr/>
        </p:nvSpPr>
        <p:spPr>
          <a:xfrm>
            <a:off x="1050770" y="5177423"/>
            <a:ext cx="2935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machine: Recommended → Active → Completed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531814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The Problem We're Solving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fragmented L&amp;D data is a compliance and business risk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5778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4864" cy="2377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2070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🔴 FRAGMENTED LEARNING DATA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640080" y="1536192"/>
            <a:ext cx="5285232" cy="1847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attendance lives in the LMS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Assessment scores are in a separate system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Competency milestones are tracked in spreadsheets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single view of an employee's learning health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55778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54864" cy="2377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37216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🟡 REACTIVE — NOT PROACTIVE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640080" y="4050792"/>
            <a:ext cx="5285232" cy="1847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At-risk employees identified only after compliance failure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early-warning mechanism (4–6 weeks too late)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Interventions are ad hoc, not tracked systematically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measurable outcome recording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6172200" y="1097280"/>
            <a:ext cx="55778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72200" y="1097280"/>
            <a:ext cx="54864" cy="2377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36792" y="12070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🔵 COMPLIANCE REPORTING BURDEN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6355080" y="1536192"/>
            <a:ext cx="5285232" cy="1847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report assembly for GDPR, CCPA, DPDP, PIPEDA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audit trail for automated profiling decisions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consent management — legal exposure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Right-to-erasure requests handled manually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6172200" y="3611880"/>
            <a:ext cx="5577840" cy="2377440"/>
          </a:xfrm>
          <a:prstGeom prst="roundRect">
            <a:avLst>
              <a:gd name="adj" fmla="val 3846"/>
            </a:avLst>
          </a:prstGeom>
          <a:solidFill>
            <a:srgbClr val="EFF6FF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72200" y="3611880"/>
            <a:ext cx="54864" cy="2377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55080" y="3749040"/>
            <a:ext cx="5303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cost: </a:t>
            </a:r>
            <a:r>
              <a:rPr lang="en-US" sz="1300" i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Organisations lose 4–6 weeks of remediation time, face regulatory fines, and cannot prove due diligence when an employee fails certification — all because their L&amp;D data is siloed.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6355080" y="37033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Solution — What LearnTrack CLP Is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lightweight aggregation, analytics and workflow SaaS layer on top of existing systems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640080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4864" cy="3017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20700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FULL LMS — A SMART L&amp;D INTELLIGENCE LAYER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640080" y="1536192"/>
            <a:ext cx="6108192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Consolidates attendance, scores &amp; milestones from any existing LMS / HRIS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Builds a unified, curated learning profile per employee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Configurable rule engine detects at-risk learners automatically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Manages the full intervention lifecycle with SLA tracking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Produces compliance-ready reports with a full audit trail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Handles consent, opt-out and right-to-erasure across all regions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21031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4–6wk</a:t>
            </a:r>
            <a:endParaRPr lang="en-US" sz="3200"/>
          </a:p>
        </p:txBody>
      </p:sp>
      <p:sp>
        <p:nvSpPr>
          <p:cNvPr id="12" name="Text 10"/>
          <p:cNvSpPr/>
          <p:nvPr/>
        </p:nvSpPr>
        <p:spPr>
          <a:xfrm>
            <a:off x="594360" y="5257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Earlier at-risk detection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2697480" y="4297680"/>
            <a:ext cx="21031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97480" y="44805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70%</a:t>
            </a:r>
            <a:endParaRPr lang="en-US" sz="3200"/>
          </a:p>
        </p:txBody>
      </p:sp>
      <p:sp>
        <p:nvSpPr>
          <p:cNvPr id="15" name="Text 13"/>
          <p:cNvSpPr/>
          <p:nvPr/>
        </p:nvSpPr>
        <p:spPr>
          <a:xfrm>
            <a:off x="2834640" y="5257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Intervention improvement target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4937760" y="4297680"/>
            <a:ext cx="21031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44805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+25%</a:t>
            </a:r>
            <a:endParaRPr lang="en-US" sz="3200"/>
          </a:p>
        </p:txBody>
      </p:sp>
      <p:sp>
        <p:nvSpPr>
          <p:cNvPr id="18" name="Text 16"/>
          <p:cNvSpPr/>
          <p:nvPr/>
        </p:nvSpPr>
        <p:spPr>
          <a:xfrm>
            <a:off x="5074920" y="5257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completion YoY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7040880" y="1097280"/>
            <a:ext cx="4709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040880" y="1097280"/>
            <a:ext cx="54864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205472" y="120700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WHO USES IT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7223760" y="1536192"/>
            <a:ext cx="4416552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Corporates (L&amp;D, HR, Compliance)</a:t>
            </a:r>
            <a:endParaRPr lang="en-US" sz="1000"/>
          </a:p>
          <a:p>
            <a:pPr marL="0" indent="0">
              <a:lnSpc>
                <a:spcPct val="135000"/>
              </a:lnSpc>
              <a:buNone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Regulated Industries (BFSI, Pharma, Manufacturing)</a:t>
            </a:r>
            <a:endParaRPr lang="en-US" sz="1000"/>
          </a:p>
          <a:p>
            <a:pPr marL="0" indent="0">
              <a:lnSpc>
                <a:spcPct val="135000"/>
              </a:lnSpc>
              <a:buNone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Training Providers (Multi-client)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7040880" y="2926080"/>
            <a:ext cx="47091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040880" y="2926080"/>
            <a:ext cx="54864" cy="3017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205472" y="303580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🌍 DELIVERED AS SAAS — MULTI-TENANT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7223760" y="3364992"/>
            <a:ext cx="4416552" cy="17871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New organisation live in &lt; 5 minutes (automated provisioning)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Starter · Pro · Enterprise subscription tiers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AWS primary — </a:t>
            </a:r>
            <a:r>
              <a:rPr lang="en-US" sz="12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cloud-agnostic</a:t>
            </a: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abstractions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99.5% – 99.9% SLA depending on plan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✨ Solution Cont...(Key Capabilities at a Glance)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the platform delivers out of the box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5778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4864" cy="2377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2070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DATA &amp; INTELLIGENCE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640080" y="1536192"/>
            <a:ext cx="5285232" cy="1847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Multi-source data ingestion (REST + CSV) from any LMS/HRIS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Curated learning profile: attendance %, scores, trends, milestones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Configurable JSON rule engine — 5 to unlimited rules by plan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4-level risk classification with weighted scoring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CDC-fed reporting read model — always fresh, zero polling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55778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54864" cy="2377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37216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🔁 WORKFLOW AUTOMATION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640080" y="4050792"/>
            <a:ext cx="5285232" cy="1847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Auto-recommended interventions on risk detection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Approval workflow with 48h SLA enforcement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Session logging &amp; outcome measurement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Temporal durable sagas: provisioning, plan upgrade, erasure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Automated escalation on SLA breach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6172200" y="1097280"/>
            <a:ext cx="55778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72200" y="1097280"/>
            <a:ext cx="54864" cy="23774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36792" y="12070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COMPLIANCE &amp; PRIVACY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6355080" y="1536192"/>
            <a:ext cx="5285232" cy="1847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GDPR Art.22 human-review gate on automated profiling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Per-purpose consent management with full audit history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Right-to-erasure saga — 72hr target, signed certificate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Pseudonymisation in reports for opted-out employees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Immutable hash-chained audit log (S3 Object Lock)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6172200" y="3611880"/>
            <a:ext cx="55778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72200" y="3611880"/>
            <a:ext cx="54864" cy="2377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36792" y="37216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MULTI-TENANCY &amp; SCALE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6355080" y="4050792"/>
            <a:ext cx="5285232" cy="1847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Row-level / schema / dedicated DB isolation by plan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Automated tenant onboarding &lt; 5 minutes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Per-tenant KMS encryption keys (Vault + AWS KMS)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Data residency pinning (EU: eu-west-1, India: ap-south-1)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Feature flags per tenant (Unleash) + rate limiting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 Solution </a:t>
            </a:r>
            <a:r>
              <a:rPr lang="en-US" sz="2400" b="1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</a:t>
            </a:r>
            <a:r>
              <a:rPr lang="en-US" sz="2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…(Subscription Plans)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tiers to match every organisation's scale and compliance needs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97480" cy="48463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69748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⭐ Starter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 to 500 employees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594360" y="2057400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 Isolation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1805940" y="2057400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Row-level (Shared)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594360" y="2423160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441448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Rules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1805940" y="2441448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594360" y="2807208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825496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1805940" y="2825496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only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594360" y="3191256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209544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1805940" y="3209544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594360" y="3575304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3593592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Access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1805940" y="3593592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594360" y="3959352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3977640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White-label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1805940" y="3977640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594360" y="4343400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4360" y="4361688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SSO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1805940" y="4361688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594360" y="4727448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4360" y="4745736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1805940" y="4745736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99.5%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594360" y="5111496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91840" y="1097280"/>
            <a:ext cx="2697480" cy="48463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291840" y="1097280"/>
            <a:ext cx="2697480" cy="868680"/>
          </a:xfrm>
          <a:prstGeom prst="roundRect">
            <a:avLst>
              <a:gd name="adj" fmla="val 1052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91840" y="1188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Pro</a:t>
            </a:r>
            <a:endParaRPr lang="en-US" sz="1600"/>
          </a:p>
        </p:txBody>
      </p:sp>
      <p:sp>
        <p:nvSpPr>
          <p:cNvPr id="37" name="Text 35"/>
          <p:cNvSpPr/>
          <p:nvPr/>
        </p:nvSpPr>
        <p:spPr>
          <a:xfrm>
            <a:off x="3291840" y="16002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 to 5,000 employees</a:t>
            </a:r>
            <a:endParaRPr lang="en-US" sz="900"/>
          </a:p>
        </p:txBody>
      </p:sp>
      <p:sp>
        <p:nvSpPr>
          <p:cNvPr id="38" name="Text 36"/>
          <p:cNvSpPr/>
          <p:nvPr/>
        </p:nvSpPr>
        <p:spPr>
          <a:xfrm>
            <a:off x="3429000" y="2057400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 Isolation</a:t>
            </a:r>
            <a:endParaRPr lang="en-US" sz="1000"/>
          </a:p>
        </p:txBody>
      </p:sp>
      <p:sp>
        <p:nvSpPr>
          <p:cNvPr id="39" name="Text 37"/>
          <p:cNvSpPr/>
          <p:nvPr/>
        </p:nvSpPr>
        <p:spPr>
          <a:xfrm>
            <a:off x="4640580" y="2057400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Schema-per-tenant</a:t>
            </a:r>
            <a:endParaRPr lang="en-US" sz="1000"/>
          </a:p>
        </p:txBody>
      </p:sp>
      <p:sp>
        <p:nvSpPr>
          <p:cNvPr id="40" name="Shape 38"/>
          <p:cNvSpPr/>
          <p:nvPr/>
        </p:nvSpPr>
        <p:spPr>
          <a:xfrm>
            <a:off x="3429000" y="2423160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429000" y="2441448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Rules</a:t>
            </a:r>
            <a:endParaRPr lang="en-US" sz="1000"/>
          </a:p>
        </p:txBody>
      </p:sp>
      <p:sp>
        <p:nvSpPr>
          <p:cNvPr id="42" name="Text 40"/>
          <p:cNvSpPr/>
          <p:nvPr/>
        </p:nvSpPr>
        <p:spPr>
          <a:xfrm>
            <a:off x="4640580" y="2441448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000"/>
          </a:p>
        </p:txBody>
      </p:sp>
      <p:sp>
        <p:nvSpPr>
          <p:cNvPr id="43" name="Shape 41"/>
          <p:cNvSpPr/>
          <p:nvPr/>
        </p:nvSpPr>
        <p:spPr>
          <a:xfrm>
            <a:off x="3429000" y="2807208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429000" y="2825496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</a:t>
            </a:r>
            <a:endParaRPr lang="en-US" sz="1000"/>
          </a:p>
        </p:txBody>
      </p:sp>
      <p:sp>
        <p:nvSpPr>
          <p:cNvPr id="45" name="Text 43"/>
          <p:cNvSpPr/>
          <p:nvPr/>
        </p:nvSpPr>
        <p:spPr>
          <a:xfrm>
            <a:off x="4640580" y="2825496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+ SMS + In-app</a:t>
            </a:r>
            <a:endParaRPr lang="en-US" sz="1000"/>
          </a:p>
        </p:txBody>
      </p:sp>
      <p:sp>
        <p:nvSpPr>
          <p:cNvPr id="46" name="Shape 44"/>
          <p:cNvSpPr/>
          <p:nvPr/>
        </p:nvSpPr>
        <p:spPr>
          <a:xfrm>
            <a:off x="3429000" y="3191256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429000" y="3209544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1000"/>
          </a:p>
        </p:txBody>
      </p:sp>
      <p:sp>
        <p:nvSpPr>
          <p:cNvPr id="48" name="Text 46"/>
          <p:cNvSpPr/>
          <p:nvPr/>
        </p:nvSpPr>
        <p:spPr>
          <a:xfrm>
            <a:off x="4640580" y="3209544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templates</a:t>
            </a:r>
            <a:endParaRPr lang="en-US" sz="1000"/>
          </a:p>
        </p:txBody>
      </p:sp>
      <p:sp>
        <p:nvSpPr>
          <p:cNvPr id="49" name="Shape 47"/>
          <p:cNvSpPr/>
          <p:nvPr/>
        </p:nvSpPr>
        <p:spPr>
          <a:xfrm>
            <a:off x="3429000" y="3575304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429000" y="3593592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Access</a:t>
            </a:r>
            <a:endParaRPr lang="en-US" sz="1000"/>
          </a:p>
        </p:txBody>
      </p:sp>
      <p:sp>
        <p:nvSpPr>
          <p:cNvPr id="51" name="Text 49"/>
          <p:cNvSpPr/>
          <p:nvPr/>
        </p:nvSpPr>
        <p:spPr>
          <a:xfrm>
            <a:off x="4640580" y="3593592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(rate-limited)</a:t>
            </a:r>
            <a:endParaRPr lang="en-US" sz="1000"/>
          </a:p>
        </p:txBody>
      </p:sp>
      <p:sp>
        <p:nvSpPr>
          <p:cNvPr id="52" name="Shape 50"/>
          <p:cNvSpPr/>
          <p:nvPr/>
        </p:nvSpPr>
        <p:spPr>
          <a:xfrm>
            <a:off x="3429000" y="3959352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429000" y="3977640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White-label</a:t>
            </a:r>
            <a:endParaRPr lang="en-US" sz="1000"/>
          </a:p>
        </p:txBody>
      </p:sp>
      <p:sp>
        <p:nvSpPr>
          <p:cNvPr id="54" name="Text 52"/>
          <p:cNvSpPr/>
          <p:nvPr/>
        </p:nvSpPr>
        <p:spPr>
          <a:xfrm>
            <a:off x="4640580" y="3977640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000"/>
          </a:p>
        </p:txBody>
      </p:sp>
      <p:sp>
        <p:nvSpPr>
          <p:cNvPr id="55" name="Shape 53"/>
          <p:cNvSpPr/>
          <p:nvPr/>
        </p:nvSpPr>
        <p:spPr>
          <a:xfrm>
            <a:off x="3429000" y="4343400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429000" y="4361688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SSO</a:t>
            </a:r>
            <a:endParaRPr lang="en-US" sz="1000"/>
          </a:p>
        </p:txBody>
      </p:sp>
      <p:sp>
        <p:nvSpPr>
          <p:cNvPr id="57" name="Text 55"/>
          <p:cNvSpPr/>
          <p:nvPr/>
        </p:nvSpPr>
        <p:spPr>
          <a:xfrm>
            <a:off x="4640580" y="4361688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000"/>
          </a:p>
        </p:txBody>
      </p:sp>
      <p:sp>
        <p:nvSpPr>
          <p:cNvPr id="58" name="Shape 56"/>
          <p:cNvSpPr/>
          <p:nvPr/>
        </p:nvSpPr>
        <p:spPr>
          <a:xfrm>
            <a:off x="3429000" y="4727448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429000" y="4745736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</a:t>
            </a:r>
            <a:endParaRPr lang="en-US" sz="1000"/>
          </a:p>
        </p:txBody>
      </p:sp>
      <p:sp>
        <p:nvSpPr>
          <p:cNvPr id="60" name="Text 58"/>
          <p:cNvSpPr/>
          <p:nvPr/>
        </p:nvSpPr>
        <p:spPr>
          <a:xfrm>
            <a:off x="4640580" y="4745736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99.5%</a:t>
            </a:r>
            <a:endParaRPr lang="en-US" sz="1000"/>
          </a:p>
        </p:txBody>
      </p:sp>
      <p:sp>
        <p:nvSpPr>
          <p:cNvPr id="61" name="Shape 59"/>
          <p:cNvSpPr/>
          <p:nvPr/>
        </p:nvSpPr>
        <p:spPr>
          <a:xfrm>
            <a:off x="3429000" y="5111496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126480" y="1097280"/>
            <a:ext cx="2697480" cy="48463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6126480" y="1097280"/>
            <a:ext cx="269748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126480" y="1188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🏛️ Enterprise</a:t>
            </a:r>
            <a:endParaRPr lang="en-US" sz="1600"/>
          </a:p>
        </p:txBody>
      </p:sp>
      <p:sp>
        <p:nvSpPr>
          <p:cNvPr id="65" name="Text 63"/>
          <p:cNvSpPr/>
          <p:nvPr/>
        </p:nvSpPr>
        <p:spPr>
          <a:xfrm>
            <a:off x="6126480" y="16002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Unlimited employees</a:t>
            </a:r>
            <a:endParaRPr lang="en-US" sz="900"/>
          </a:p>
        </p:txBody>
      </p:sp>
      <p:sp>
        <p:nvSpPr>
          <p:cNvPr id="66" name="Text 64"/>
          <p:cNvSpPr/>
          <p:nvPr/>
        </p:nvSpPr>
        <p:spPr>
          <a:xfrm>
            <a:off x="6263640" y="2057400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 Isolation</a:t>
            </a:r>
            <a:endParaRPr lang="en-US" sz="1000"/>
          </a:p>
        </p:txBody>
      </p:sp>
      <p:sp>
        <p:nvSpPr>
          <p:cNvPr id="67" name="Text 65"/>
          <p:cNvSpPr/>
          <p:nvPr/>
        </p:nvSpPr>
        <p:spPr>
          <a:xfrm>
            <a:off x="7475220" y="2057400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DB</a:t>
            </a:r>
            <a:endParaRPr lang="en-US" sz="1000"/>
          </a:p>
        </p:txBody>
      </p:sp>
      <p:sp>
        <p:nvSpPr>
          <p:cNvPr id="68" name="Shape 66"/>
          <p:cNvSpPr/>
          <p:nvPr/>
        </p:nvSpPr>
        <p:spPr>
          <a:xfrm>
            <a:off x="6263640" y="2423160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263640" y="2441448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Rules</a:t>
            </a:r>
            <a:endParaRPr lang="en-US" sz="1000"/>
          </a:p>
        </p:txBody>
      </p:sp>
      <p:sp>
        <p:nvSpPr>
          <p:cNvPr id="70" name="Text 68"/>
          <p:cNvSpPr/>
          <p:nvPr/>
        </p:nvSpPr>
        <p:spPr>
          <a:xfrm>
            <a:off x="7475220" y="2441448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Unlimited</a:t>
            </a:r>
            <a:endParaRPr lang="en-US" sz="1000"/>
          </a:p>
        </p:txBody>
      </p:sp>
      <p:sp>
        <p:nvSpPr>
          <p:cNvPr id="71" name="Shape 69"/>
          <p:cNvSpPr/>
          <p:nvPr/>
        </p:nvSpPr>
        <p:spPr>
          <a:xfrm>
            <a:off x="6263640" y="2807208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263640" y="2825496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</a:t>
            </a:r>
            <a:endParaRPr lang="en-US" sz="1000"/>
          </a:p>
        </p:txBody>
      </p:sp>
      <p:sp>
        <p:nvSpPr>
          <p:cNvPr id="73" name="Text 71"/>
          <p:cNvSpPr/>
          <p:nvPr/>
        </p:nvSpPr>
        <p:spPr>
          <a:xfrm>
            <a:off x="7475220" y="2825496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+ WebSocket</a:t>
            </a:r>
            <a:endParaRPr lang="en-US" sz="1000"/>
          </a:p>
        </p:txBody>
      </p:sp>
      <p:sp>
        <p:nvSpPr>
          <p:cNvPr id="74" name="Shape 72"/>
          <p:cNvSpPr/>
          <p:nvPr/>
        </p:nvSpPr>
        <p:spPr>
          <a:xfrm>
            <a:off x="6263640" y="3191256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263640" y="3209544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1000"/>
          </a:p>
        </p:txBody>
      </p:sp>
      <p:sp>
        <p:nvSpPr>
          <p:cNvPr id="76" name="Text 74"/>
          <p:cNvSpPr/>
          <p:nvPr/>
        </p:nvSpPr>
        <p:spPr>
          <a:xfrm>
            <a:off x="7475220" y="3209544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compliance suite</a:t>
            </a:r>
            <a:endParaRPr lang="en-US" sz="1000"/>
          </a:p>
        </p:txBody>
      </p:sp>
      <p:sp>
        <p:nvSpPr>
          <p:cNvPr id="77" name="Shape 75"/>
          <p:cNvSpPr/>
          <p:nvPr/>
        </p:nvSpPr>
        <p:spPr>
          <a:xfrm>
            <a:off x="6263640" y="3575304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6263640" y="3593592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Access</a:t>
            </a:r>
            <a:endParaRPr lang="en-US" sz="1000"/>
          </a:p>
        </p:txBody>
      </p:sp>
      <p:sp>
        <p:nvSpPr>
          <p:cNvPr id="79" name="Text 77"/>
          <p:cNvSpPr/>
          <p:nvPr/>
        </p:nvSpPr>
        <p:spPr>
          <a:xfrm>
            <a:off x="7475220" y="3593592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(dedicated quota)</a:t>
            </a:r>
            <a:endParaRPr lang="en-US" sz="1000"/>
          </a:p>
        </p:txBody>
      </p:sp>
      <p:sp>
        <p:nvSpPr>
          <p:cNvPr id="80" name="Shape 78"/>
          <p:cNvSpPr/>
          <p:nvPr/>
        </p:nvSpPr>
        <p:spPr>
          <a:xfrm>
            <a:off x="6263640" y="3959352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6263640" y="3977640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White-label</a:t>
            </a:r>
            <a:endParaRPr lang="en-US" sz="1000"/>
          </a:p>
        </p:txBody>
      </p:sp>
      <p:sp>
        <p:nvSpPr>
          <p:cNvPr id="82" name="Text 80"/>
          <p:cNvSpPr/>
          <p:nvPr/>
        </p:nvSpPr>
        <p:spPr>
          <a:xfrm>
            <a:off x="7475220" y="3977640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+ Custom domain</a:t>
            </a:r>
            <a:endParaRPr lang="en-US" sz="1000"/>
          </a:p>
        </p:txBody>
      </p:sp>
      <p:sp>
        <p:nvSpPr>
          <p:cNvPr id="83" name="Shape 81"/>
          <p:cNvSpPr/>
          <p:nvPr/>
        </p:nvSpPr>
        <p:spPr>
          <a:xfrm>
            <a:off x="6263640" y="4343400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6263640" y="4361688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SSO / SAML</a:t>
            </a:r>
            <a:endParaRPr lang="en-US" sz="1000"/>
          </a:p>
        </p:txBody>
      </p:sp>
      <p:sp>
        <p:nvSpPr>
          <p:cNvPr id="85" name="Text 83"/>
          <p:cNvSpPr/>
          <p:nvPr/>
        </p:nvSpPr>
        <p:spPr>
          <a:xfrm>
            <a:off x="7475220" y="4361688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000"/>
          </a:p>
        </p:txBody>
      </p:sp>
      <p:sp>
        <p:nvSpPr>
          <p:cNvPr id="86" name="Shape 84"/>
          <p:cNvSpPr/>
          <p:nvPr/>
        </p:nvSpPr>
        <p:spPr>
          <a:xfrm>
            <a:off x="6263640" y="4727448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6263640" y="4745736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</a:t>
            </a:r>
            <a:endParaRPr lang="en-US" sz="1000"/>
          </a:p>
        </p:txBody>
      </p:sp>
      <p:sp>
        <p:nvSpPr>
          <p:cNvPr id="88" name="Text 86"/>
          <p:cNvSpPr/>
          <p:nvPr/>
        </p:nvSpPr>
        <p:spPr>
          <a:xfrm>
            <a:off x="7475220" y="4745736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99.9%</a:t>
            </a:r>
            <a:endParaRPr lang="en-US" sz="1000"/>
          </a:p>
        </p:txBody>
      </p:sp>
      <p:sp>
        <p:nvSpPr>
          <p:cNvPr id="89" name="Shape 87"/>
          <p:cNvSpPr/>
          <p:nvPr/>
        </p:nvSpPr>
        <p:spPr>
          <a:xfrm>
            <a:off x="6263640" y="5111496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8961120" y="109728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8961120" y="1097280"/>
            <a:ext cx="54864" cy="2331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9125712" y="120700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ALL PLANS INCLUDE</a:t>
            </a:r>
            <a:endParaRPr lang="en-US" sz="1100"/>
          </a:p>
        </p:txBody>
      </p:sp>
      <p:sp>
        <p:nvSpPr>
          <p:cNvPr id="93" name="Text 91"/>
          <p:cNvSpPr/>
          <p:nvPr/>
        </p:nvSpPr>
        <p:spPr>
          <a:xfrm>
            <a:off x="9144000" y="1536192"/>
            <a:ext cx="2404872" cy="1801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 management &amp; opt-out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Right-to-erasure API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WCAG 2.1 AA accessibility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audit trail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Human-review gate</a:t>
            </a:r>
            <a:endParaRPr lang="en-US" sz="1000"/>
          </a:p>
        </p:txBody>
      </p:sp>
      <p:sp>
        <p:nvSpPr>
          <p:cNvPr id="94" name="Shape 92"/>
          <p:cNvSpPr/>
          <p:nvPr/>
        </p:nvSpPr>
        <p:spPr>
          <a:xfrm>
            <a:off x="8961120" y="356616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8961120" y="3566160"/>
            <a:ext cx="54864" cy="2377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9125712" y="367588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USAGE-BASED BILLING</a:t>
            </a:r>
            <a:endParaRPr lang="en-US" sz="1100"/>
          </a:p>
        </p:txBody>
      </p:sp>
      <p:sp>
        <p:nvSpPr>
          <p:cNvPr id="97" name="Text 95"/>
          <p:cNvSpPr/>
          <p:nvPr/>
        </p:nvSpPr>
        <p:spPr>
          <a:xfrm>
            <a:off x="9144000" y="4005072"/>
            <a:ext cx="2404872" cy="1847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Metered via Stripe. Plan usage meters visible in Admin Dashboard. Automatic upgrade prompt at 90% limit.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262928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D54D5-A64F-3494-0D6B-60911A7DB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94C90C-EC1A-3589-D3A7-90474D26D5A9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ABB15E-E740-5CB3-87FE-2C739C9B650E}"/>
              </a:ext>
            </a:extLst>
          </p:cNvPr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15F482-AE6C-5505-4894-5F93F96AC49B}"/>
              </a:ext>
            </a:extLst>
          </p:cNvPr>
          <p:cNvSpPr txBox="1"/>
          <p:nvPr/>
        </p:nvSpPr>
        <p:spPr>
          <a:xfrm>
            <a:off x="502920" y="164592"/>
            <a:ext cx="111556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rPr lang="en-US"/>
              <a:t>System</a:t>
            </a:r>
            <a:r>
              <a:t> Architecture — Layered 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BF1E35-9F1F-6D44-57F3-22B948AE4B3A}"/>
              </a:ext>
            </a:extLst>
          </p:cNvPr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</a:defRPr>
            </a:pPr>
            <a:r>
              <a:t>11 microservices organised across edge, platform, domain, messaging, and data layers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40B97FB-6C47-F5F0-842A-65FF0D4B6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ADB980F-187F-3573-F781-FE7F150EC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70" y="1078992"/>
            <a:ext cx="10204330" cy="573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258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5908" y="91440"/>
            <a:ext cx="114300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System Architecture Cont... </a:t>
            </a:r>
            <a:r>
              <a:rPr lang="en-US" sz="2400" b="1">
                <a:solidFill>
                  <a:srgbClr val="FFFFFF"/>
                </a:solidFill>
              </a:rPr>
              <a:t>(Microservices, Responsibilities &amp; Data Ownership)</a:t>
            </a:r>
            <a:endParaRPr lang="en-US" sz="24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609116"/>
              </p:ext>
            </p:extLst>
          </p:nvPr>
        </p:nvGraphicFramePr>
        <p:xfrm>
          <a:off x="141117" y="1097280"/>
          <a:ext cx="7217215" cy="5432916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698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5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2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2743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Service</a:t>
                      </a:r>
                      <a:endParaRPr lang="en-US" sz="1400" b="1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Responsibility</a:t>
                      </a:r>
                      <a:endParaRPr lang="en-US" sz="1400" b="1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Own Database</a:t>
                      </a:r>
                      <a:endParaRPr lang="en-US" sz="1400" b="1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743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Tenant Management</a:t>
                      </a:r>
                      <a:endParaRPr lang="en-US" sz="10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Org onboarding, config, billing, feature flags</a:t>
                      </a:r>
                      <a:endParaRPr lang="en-US" sz="10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tenant-db</a:t>
                      </a:r>
                      <a:endParaRPr lang="en-US" sz="10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743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Auth / Identity</a:t>
                      </a:r>
                      <a:endParaRPr lang="en-US" sz="10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OAuth2, JWT (JWKS), SSO/SAML, MFA, RBAC</a:t>
                      </a:r>
                      <a:endParaRPr lang="en-US" sz="10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auth-db</a:t>
                      </a:r>
                      <a:endParaRPr lang="en-US" sz="10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743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Ingestion</a:t>
                      </a:r>
                      <a:endParaRPr lang="en-US" sz="10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Raw staging of attendance, scores, milestones</a:t>
                      </a:r>
                      <a:endParaRPr lang="en-US" sz="10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ingestion-db (raw staging)</a:t>
                      </a:r>
                      <a:endParaRPr lang="en-US" sz="10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743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Employee Profile</a:t>
                      </a:r>
                      <a:endParaRPr lang="en-US" sz="10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Curated read model; competency analytics; trends</a:t>
                      </a:r>
                      <a:endParaRPr lang="en-US" sz="10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profile-db (curated)</a:t>
                      </a:r>
                      <a:endParaRPr lang="en-US" sz="10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743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Risk Engine</a:t>
                      </a:r>
                      <a:endParaRPr lang="en-US" sz="10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Rule execution, at-risk classification, alerts. Human-review for CRITICAL / HIGH</a:t>
                      </a:r>
                      <a:endParaRPr lang="en-US" sz="10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risk-db</a:t>
                      </a:r>
                      <a:endParaRPr lang="en-US" sz="10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743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Rule Management</a:t>
                      </a:r>
                      <a:endParaRPr lang="en-US" sz="10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Rule CRUD, versioning, test sandbox, activation</a:t>
                      </a:r>
                      <a:endParaRPr lang="en-US" sz="10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rules-db</a:t>
                      </a:r>
                      <a:endParaRPr lang="en-US" sz="10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743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Intervention</a:t>
                      </a:r>
                      <a:endParaRPr lang="en-US" sz="10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Remedial training &amp; coaching lifecycle, outcomes. </a:t>
                      </a:r>
                      <a:endParaRPr lang="en-US" sz="10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intervention-db</a:t>
                      </a:r>
                      <a:endParaRPr lang="en-US" sz="10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743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Reporting</a:t>
                      </a:r>
                      <a:endParaRPr lang="en-US" sz="10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Compliance reports, L&amp;D dashboards, exports</a:t>
                      </a:r>
                      <a:endParaRPr lang="en-US" sz="10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reporting-db (CDC read model)</a:t>
                      </a:r>
                      <a:endParaRPr lang="en-US" sz="10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2743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Notification</a:t>
                      </a:r>
                      <a:endParaRPr lang="en-US" sz="10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Email, SMS, in-app, WebSocket / SSE push</a:t>
                      </a:r>
                      <a:endParaRPr lang="en-US" sz="10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None (stateless)</a:t>
                      </a:r>
                      <a:endParaRPr lang="en-US" sz="10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2743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Audit</a:t>
                      </a:r>
                      <a:endParaRPr lang="en-US" sz="10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Immutable hash-chained event log</a:t>
                      </a:r>
                      <a:endParaRPr lang="en-US" sz="10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audit-db</a:t>
                      </a:r>
                      <a:endParaRPr lang="en-US" sz="10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2743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Consent</a:t>
                      </a:r>
                      <a:endParaRPr lang="en-US" sz="10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Per-employee consent, opt-out, erasure saga. Satisfies GDPR, DPDP, CCPA, PIPEDA</a:t>
                      </a:r>
                      <a:endParaRPr lang="en-US" sz="10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consent-</a:t>
                      </a:r>
                      <a:r>
                        <a:rPr lang="en-US" sz="1000" err="1">
                          <a:solidFill>
                            <a:schemeClr val="tx1"/>
                          </a:solidFill>
                        </a:rPr>
                        <a:t>db</a:t>
                      </a:r>
                      <a:endParaRPr lang="en-US" sz="10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Shape 34">
            <a:extLst>
              <a:ext uri="{FF2B5EF4-FFF2-40B4-BE49-F238E27FC236}">
                <a16:creationId xmlns:a16="http://schemas.microsoft.com/office/drawing/2014/main" id="{A7BD3896-32BD-C57A-9E9A-6EA08EE98916}"/>
              </a:ext>
            </a:extLst>
          </p:cNvPr>
          <p:cNvSpPr/>
          <p:nvPr/>
        </p:nvSpPr>
        <p:spPr>
          <a:xfrm>
            <a:off x="7589520" y="1097279"/>
            <a:ext cx="4160520" cy="3114895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5">
            <a:extLst>
              <a:ext uri="{FF2B5EF4-FFF2-40B4-BE49-F238E27FC236}">
                <a16:creationId xmlns:a16="http://schemas.microsoft.com/office/drawing/2014/main" id="{9C32145E-D711-44A2-9906-2C03EDDFFC8E}"/>
              </a:ext>
            </a:extLst>
          </p:cNvPr>
          <p:cNvSpPr/>
          <p:nvPr/>
        </p:nvSpPr>
        <p:spPr>
          <a:xfrm>
            <a:off x="7589520" y="1097279"/>
            <a:ext cx="54864" cy="311489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6">
            <a:extLst>
              <a:ext uri="{FF2B5EF4-FFF2-40B4-BE49-F238E27FC236}">
                <a16:creationId xmlns:a16="http://schemas.microsoft.com/office/drawing/2014/main" id="{7B68B3DA-B109-67DD-D24D-D4807ACD6837}"/>
              </a:ext>
            </a:extLst>
          </p:cNvPr>
          <p:cNvSpPr/>
          <p:nvPr/>
        </p:nvSpPr>
        <p:spPr>
          <a:xfrm>
            <a:off x="7754112" y="1207007"/>
            <a:ext cx="3886200" cy="333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ARCHITECTURE DECISIONS</a:t>
            </a:r>
            <a:endParaRPr lang="en-US" sz="1100"/>
          </a:p>
        </p:txBody>
      </p:sp>
      <p:sp>
        <p:nvSpPr>
          <p:cNvPr id="8" name="Text 37">
            <a:extLst>
              <a:ext uri="{FF2B5EF4-FFF2-40B4-BE49-F238E27FC236}">
                <a16:creationId xmlns:a16="http://schemas.microsoft.com/office/drawing/2014/main" id="{8E9CCF59-8F68-3867-C861-4C8E643359EF}"/>
              </a:ext>
            </a:extLst>
          </p:cNvPr>
          <p:cNvSpPr/>
          <p:nvPr/>
        </p:nvSpPr>
        <p:spPr>
          <a:xfrm>
            <a:off x="7772400" y="1536191"/>
            <a:ext cx="3867912" cy="195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Schema-per-service isolation (no cross-schema reads)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Transactional Outbox + CDC for exactly-once delivery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Multi-tenant via tenant_id on every DB row &amp; Kafka event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Human-review gate on automated profiling (GDPR Art.22)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Temporal workflows for durable saga orchestration</a:t>
            </a:r>
            <a:endParaRPr lang="en-US" sz="1000"/>
          </a:p>
        </p:txBody>
      </p:sp>
      <p:sp>
        <p:nvSpPr>
          <p:cNvPr id="9" name="Shape 38">
            <a:extLst>
              <a:ext uri="{FF2B5EF4-FFF2-40B4-BE49-F238E27FC236}">
                <a16:creationId xmlns:a16="http://schemas.microsoft.com/office/drawing/2014/main" id="{1C7AFDD1-9819-B1E1-9745-134DDF317AFF}"/>
              </a:ext>
            </a:extLst>
          </p:cNvPr>
          <p:cNvSpPr/>
          <p:nvPr/>
        </p:nvSpPr>
        <p:spPr>
          <a:xfrm>
            <a:off x="7589520" y="3749040"/>
            <a:ext cx="4160520" cy="2781156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39">
            <a:extLst>
              <a:ext uri="{FF2B5EF4-FFF2-40B4-BE49-F238E27FC236}">
                <a16:creationId xmlns:a16="http://schemas.microsoft.com/office/drawing/2014/main" id="{DC04128B-9407-542B-5B99-6D348D7D68EA}"/>
              </a:ext>
            </a:extLst>
          </p:cNvPr>
          <p:cNvSpPr/>
          <p:nvPr/>
        </p:nvSpPr>
        <p:spPr>
          <a:xfrm>
            <a:off x="7589520" y="3749040"/>
            <a:ext cx="54864" cy="27811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40">
            <a:extLst>
              <a:ext uri="{FF2B5EF4-FFF2-40B4-BE49-F238E27FC236}">
                <a16:creationId xmlns:a16="http://schemas.microsoft.com/office/drawing/2014/main" id="{A38938E7-7A74-1822-2728-67189B5FAC00}"/>
              </a:ext>
            </a:extLst>
          </p:cNvPr>
          <p:cNvSpPr/>
          <p:nvPr/>
        </p:nvSpPr>
        <p:spPr>
          <a:xfrm>
            <a:off x="7754112" y="3858767"/>
            <a:ext cx="3886200" cy="333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POC SIMPLIFICATIONS</a:t>
            </a:r>
            <a:endParaRPr lang="en-US" sz="1100"/>
          </a:p>
        </p:txBody>
      </p:sp>
      <p:sp>
        <p:nvSpPr>
          <p:cNvPr id="12" name="Text 41">
            <a:extLst>
              <a:ext uri="{FF2B5EF4-FFF2-40B4-BE49-F238E27FC236}">
                <a16:creationId xmlns:a16="http://schemas.microsoft.com/office/drawing/2014/main" id="{3D8A860D-3F73-031F-7215-7B111621AAE5}"/>
              </a:ext>
            </a:extLst>
          </p:cNvPr>
          <p:cNvSpPr/>
          <p:nvPr/>
        </p:nvSpPr>
        <p:spPr>
          <a:xfrm>
            <a:off x="7772400" y="4187952"/>
            <a:ext cx="3867912" cy="12208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Outbox + poller → Production: Debezium CDC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In-service state machine → Production: Temporal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 HS256 JWT → Production: Kong/JWKS/SSO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DB (schemas) → Production: DB-per-service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⛓️ The Core Value Chain — End-to-End Event Flow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training data flows automatically through the pipeline to insights and action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12928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37160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LMS / HRIS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Data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2057400" y="25146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/ingest</a:t>
            </a:r>
            <a:endParaRPr lang="en-US" sz="800"/>
          </a:p>
        </p:txBody>
      </p:sp>
      <p:sp>
        <p:nvSpPr>
          <p:cNvPr id="11" name="Shape 9"/>
          <p:cNvSpPr/>
          <p:nvPr/>
        </p:nvSpPr>
        <p:spPr>
          <a:xfrm>
            <a:off x="2423160" y="137160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23160" y="14173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📥 Ingestion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2423160" y="18288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&amp; Stage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3886200" y="25146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data.ingested</a:t>
            </a:r>
            <a:endParaRPr lang="en-US" sz="800"/>
          </a:p>
        </p:txBody>
      </p:sp>
      <p:sp>
        <p:nvSpPr>
          <p:cNvPr id="15" name="Shape 13"/>
          <p:cNvSpPr/>
          <p:nvPr/>
        </p:nvSpPr>
        <p:spPr>
          <a:xfrm>
            <a:off x="4251960" y="137160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51960" y="14173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Profile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4251960" y="18288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Aggregate Metrics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5715000" y="25146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profile.updated</a:t>
            </a:r>
            <a:endParaRPr lang="en-US" sz="800"/>
          </a:p>
        </p:txBody>
      </p:sp>
      <p:sp>
        <p:nvSpPr>
          <p:cNvPr id="19" name="Shape 17"/>
          <p:cNvSpPr/>
          <p:nvPr/>
        </p:nvSpPr>
        <p:spPr>
          <a:xfrm>
            <a:off x="6080760" y="137160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80760" y="14173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Risk Engine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6080760" y="18288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Rules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7543800" y="25146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risk.detected</a:t>
            </a:r>
            <a:endParaRPr lang="en-US" sz="800"/>
          </a:p>
        </p:txBody>
      </p:sp>
      <p:sp>
        <p:nvSpPr>
          <p:cNvPr id="23" name="Shape 21"/>
          <p:cNvSpPr/>
          <p:nvPr/>
        </p:nvSpPr>
        <p:spPr>
          <a:xfrm>
            <a:off x="7909560" y="137160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909560" y="14173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Intervention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7909560" y="18288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Auto-Recommend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9372600" y="25146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intervention.assigned</a:t>
            </a:r>
            <a:endParaRPr lang="en-US" sz="800"/>
          </a:p>
        </p:txBody>
      </p:sp>
      <p:sp>
        <p:nvSpPr>
          <p:cNvPr id="27" name="Shape 25"/>
          <p:cNvSpPr/>
          <p:nvPr/>
        </p:nvSpPr>
        <p:spPr>
          <a:xfrm>
            <a:off x="9738360" y="137160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738360" y="14173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Reporting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9738360" y="18288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 Aggregates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457200" y="292608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1792" y="30358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📥 INGESTION SERVICE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640080" y="3364992"/>
            <a:ext cx="528523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Accepts training attendance, assessment scores, milestones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Idempotent — Idempotency-Key prevents duplicates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Publishes data.ingested via Outbox → Kafka</a:t>
            </a:r>
            <a:endParaRPr lang="en-US" sz="1000"/>
          </a:p>
        </p:txBody>
      </p:sp>
      <p:sp>
        <p:nvSpPr>
          <p:cNvPr id="34" name="Shape 32"/>
          <p:cNvSpPr/>
          <p:nvPr/>
        </p:nvSpPr>
        <p:spPr>
          <a:xfrm>
            <a:off x="457200" y="452628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57200" y="4526280"/>
            <a:ext cx="54864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1792" y="46360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PROFILE SERVICE</a:t>
            </a:r>
            <a:endParaRPr lang="en-US" sz="1100"/>
          </a:p>
        </p:txBody>
      </p:sp>
      <p:sp>
        <p:nvSpPr>
          <p:cNvPr id="37" name="Text 35"/>
          <p:cNvSpPr/>
          <p:nvPr/>
        </p:nvSpPr>
        <p:spPr>
          <a:xfrm>
            <a:off x="640080" y="4965192"/>
            <a:ext cx="528523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Builds curated employee learning profile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Computes: Attendance %, Avg Score, Score Trend, Milestone %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Publishes profile.updated snapshot to Kafka</a:t>
            </a:r>
            <a:endParaRPr lang="en-US" sz="1000"/>
          </a:p>
        </p:txBody>
      </p:sp>
      <p:sp>
        <p:nvSpPr>
          <p:cNvPr id="38" name="Shape 36"/>
          <p:cNvSpPr/>
          <p:nvPr/>
        </p:nvSpPr>
        <p:spPr>
          <a:xfrm>
            <a:off x="6172200" y="292608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172200" y="2926080"/>
            <a:ext cx="54864" cy="1463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36792" y="30358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RISK ENGINE</a:t>
            </a:r>
            <a:endParaRPr lang="en-US" sz="1100"/>
          </a:p>
        </p:txBody>
      </p:sp>
      <p:sp>
        <p:nvSpPr>
          <p:cNvPr id="41" name="Text 39"/>
          <p:cNvSpPr/>
          <p:nvPr/>
        </p:nvSpPr>
        <p:spPr>
          <a:xfrm>
            <a:off x="6355080" y="3364992"/>
            <a:ext cx="528523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Evaluates configurable JSON rules against profile snapshot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Classifies: Critical / High / Medium / Low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Critical &amp; High → human-review gate (GDPR Art.22)</a:t>
            </a:r>
            <a:endParaRPr lang="en-US" sz="1000"/>
          </a:p>
        </p:txBody>
      </p:sp>
      <p:sp>
        <p:nvSpPr>
          <p:cNvPr id="42" name="Shape 40"/>
          <p:cNvSpPr/>
          <p:nvPr/>
        </p:nvSpPr>
        <p:spPr>
          <a:xfrm>
            <a:off x="6172200" y="452628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172200" y="4526280"/>
            <a:ext cx="54864" cy="1463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36792" y="46360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REPORTING SERVICE</a:t>
            </a:r>
            <a:endParaRPr lang="en-US" sz="1100"/>
          </a:p>
        </p:txBody>
      </p:sp>
      <p:sp>
        <p:nvSpPr>
          <p:cNvPr id="45" name="Text 43"/>
          <p:cNvSpPr/>
          <p:nvPr/>
        </p:nvSpPr>
        <p:spPr>
          <a:xfrm>
            <a:off x="6355080" y="4965192"/>
            <a:ext cx="528523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CDC-fed read model (no polling — always fresh)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Consumes all domain events to build aggregates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Dashboard KPIs + compliance report generation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User Roles &amp; Role-Based Dashboards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role sees exactly the data and actions they need — nothing more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577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4864" cy="2103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2070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🧑‍🏫 TRAINER DASHBOARD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640080" y="1536192"/>
            <a:ext cx="5285232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at-risk summary (live WebSocket updates)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human-review queue (GDPR gate)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learning profiles: attendance, scores, milestones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interventions &amp; session logging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Competency performance charts (by module)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5577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54864" cy="2103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344728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L&amp;D ADMINISTRATOR DASHBOARD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640080" y="3776472"/>
            <a:ext cx="5285232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Org-wide KPIs: Compliance %, at-risk count, attendance trend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distribution donut chart (Critical/High/Medium/Low)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 calendar — upcoming regulatory deadlines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 coverage &amp; erasure request tracking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management &amp; report generation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6172200" y="1097280"/>
            <a:ext cx="5577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72200" y="1097280"/>
            <a:ext cx="54864" cy="2103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36792" y="12070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L&amp;D MANAGER DASHBOARD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6355080" y="1536192"/>
            <a:ext cx="5285232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Intervention caseload &amp; approval queue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Intervention calendar — weekly schedule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Escalation queue (SLA-breached interventions)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Effectiveness summary: avg improvement % by type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/ Reject with full employee risk profile context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6172200" y="3337560"/>
            <a:ext cx="5577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72200" y="3337560"/>
            <a:ext cx="54864" cy="2103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36792" y="344728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🙋 EMPLOYEE SELF-SERVICE PORTAL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6355080" y="3776472"/>
            <a:ext cx="5285232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 training attendance summary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Assessment scores &amp; competency milestone progress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interventions: schedule &amp; trainer notes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 Preferences: manage consents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data erasure &amp; download deletion certificate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457200" y="5577840"/>
            <a:ext cx="11292840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5577840"/>
            <a:ext cx="54864" cy="6400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5577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WCAG 2.1 AA — </a:t>
            </a:r>
            <a:r>
              <a:rPr lang="en-US" sz="1100" i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portals are accessible: keyboard navigable, screen-reader compatible, colour-blind safe badges (colour + icon + text), ARIA live regions for at-risk alerts.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Risk Engine &amp; Human-Review Gate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Configurable rule-based classification with mandatory human oversight for GDPR Article 22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6235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4864" cy="2560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188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SCORING &amp; CLASSIFICATION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685800" y="16002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6002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>
          <a:xfrm>
            <a:off x="1828800" y="1691640"/>
            <a:ext cx="3108960" cy="1188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828800" y="1691640"/>
            <a:ext cx="2798064" cy="118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160020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85+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685800" y="20574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20574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1828800" y="2148840"/>
            <a:ext cx="3108960" cy="1188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828800" y="2148840"/>
            <a:ext cx="2238451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0" y="205740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65–84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685800" y="25146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25146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854D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1828800" y="2606040"/>
            <a:ext cx="3108960" cy="1188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828800" y="2606040"/>
            <a:ext cx="1492301" cy="11887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0" y="251460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40–64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685800" y="29718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29718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1828800" y="3063240"/>
            <a:ext cx="3108960" cy="1188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828800" y="3063240"/>
            <a:ext cx="777240" cy="1188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0" y="297180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40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457200" y="3794760"/>
            <a:ext cx="56235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" y="3794760"/>
            <a:ext cx="54864" cy="2240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1792" y="3904488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CONFIGURABLE RULE EXAMPLE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640080" y="4160520"/>
            <a:ext cx="5303520" cy="178308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77240" y="4206240"/>
            <a:ext cx="51206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"operator": "AND",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"criteria": [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"metric": "training_attendance_percentage",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"operator": "less_than", "value": 80 },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"metric": "competency_average_score",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"operator": "less_than", "value": 65 }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6263640" y="10972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263640" y="1097280"/>
            <a:ext cx="54864" cy="1828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28232" y="120700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HUMAN-REVIEW GATE (GDPR ART.22)</a:t>
            </a:r>
            <a:endParaRPr lang="en-US" sz="1100"/>
          </a:p>
        </p:txBody>
      </p:sp>
      <p:sp>
        <p:nvSpPr>
          <p:cNvPr id="37" name="Text 35"/>
          <p:cNvSpPr/>
          <p:nvPr/>
        </p:nvSpPr>
        <p:spPr>
          <a:xfrm>
            <a:off x="6446520" y="1536192"/>
            <a:ext cx="5193792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All CRITICAL &amp; HIGH assessments flagged requiresHumanReview = true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Employee is NOT notified until a Trainer/L&amp;D Manager reviews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Reviewer must: Confirm, Override, or Dismiss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Decision + reviewer identity logged to immutable audit trail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48-hour SLA — Temporal timer escalates to L&amp;D Admin if breached</a:t>
            </a:r>
            <a:endParaRPr lang="en-US" sz="1000"/>
          </a:p>
        </p:txBody>
      </p:sp>
      <p:sp>
        <p:nvSpPr>
          <p:cNvPr id="38" name="Shape 36"/>
          <p:cNvSpPr/>
          <p:nvPr/>
        </p:nvSpPr>
        <p:spPr>
          <a:xfrm>
            <a:off x="6263640" y="306324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263640" y="3063240"/>
            <a:ext cx="54864" cy="1554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28232" y="317296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 OPT-OUT INTEGRATION</a:t>
            </a:r>
            <a:endParaRPr lang="en-US" sz="1100"/>
          </a:p>
        </p:txBody>
      </p:sp>
      <p:sp>
        <p:nvSpPr>
          <p:cNvPr id="41" name="Text 39"/>
          <p:cNvSpPr/>
          <p:nvPr/>
        </p:nvSpPr>
        <p:spPr>
          <a:xfrm>
            <a:off x="6446520" y="3502152"/>
            <a:ext cx="519379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Employee withdraws risk_profiling consent via Settings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consent.withdrawn event → Risk Engine skips assessments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Employee drops off the at-risk list immediately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Pseudonymised as REDACTED-… in compliance reports</a:t>
            </a:r>
            <a:endParaRPr lang="en-US" sz="1000"/>
          </a:p>
        </p:txBody>
      </p:sp>
      <p:sp>
        <p:nvSpPr>
          <p:cNvPr id="42" name="Shape 40"/>
          <p:cNvSpPr/>
          <p:nvPr/>
        </p:nvSpPr>
        <p:spPr>
          <a:xfrm>
            <a:off x="6263640" y="475488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28232" y="486460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RULE MANAGEMENT</a:t>
            </a:r>
            <a:endParaRPr lang="en-US" sz="1100"/>
          </a:p>
        </p:txBody>
      </p:sp>
      <p:sp>
        <p:nvSpPr>
          <p:cNvPr id="44" name="Text 42"/>
          <p:cNvSpPr/>
          <p:nvPr/>
        </p:nvSpPr>
        <p:spPr>
          <a:xfrm>
            <a:off x="6446520" y="5193792"/>
            <a:ext cx="51937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L&amp;D Admins create rules via UI → test on sample profiles → activate. Redis cache invalidated instantly. Available metrics: attendance %, avg score, score trend, milestone completion %, days since progress.</a:t>
            </a:r>
            <a:endParaRPr lang="en-US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Intervention Lifecycle — State Machine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auto-recommendation to outcome measurement — fully tracked with SLA enforcement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1292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INTERVENTION STATE MACHINE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90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6276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RECOMMENDED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Auto-created by system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2606040" y="1554480"/>
            <a:ext cx="182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/>
          </a:p>
        </p:txBody>
      </p:sp>
      <p:sp>
        <p:nvSpPr>
          <p:cNvPr id="12" name="Shape 10"/>
          <p:cNvSpPr/>
          <p:nvPr/>
        </p:nvSpPr>
        <p:spPr>
          <a:xfrm>
            <a:off x="2788920" y="15544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88920" y="16276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⏳ PENDING_APPROVAL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2788920" y="20116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L&amp;D Manager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4754880" y="1554480"/>
            <a:ext cx="182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/>
          </a:p>
        </p:txBody>
      </p:sp>
      <p:sp>
        <p:nvSpPr>
          <p:cNvPr id="16" name="Shape 14"/>
          <p:cNvSpPr/>
          <p:nvPr/>
        </p:nvSpPr>
        <p:spPr>
          <a:xfrm>
            <a:off x="4937760" y="15544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16276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 ACTIVE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4937760" y="20116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Sessions in progress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6903720" y="1554480"/>
            <a:ext cx="182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/>
          </a:p>
        </p:txBody>
      </p:sp>
      <p:sp>
        <p:nvSpPr>
          <p:cNvPr id="20" name="Shape 18"/>
          <p:cNvSpPr/>
          <p:nvPr/>
        </p:nvSpPr>
        <p:spPr>
          <a:xfrm>
            <a:off x="7086600" y="15544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86600" y="16276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COMPLETED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7086600" y="20116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Outcomes recorded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9052560" y="1554480"/>
            <a:ext cx="182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/>
          </a:p>
        </p:txBody>
      </p:sp>
      <p:sp>
        <p:nvSpPr>
          <p:cNvPr id="24" name="Shape 22"/>
          <p:cNvSpPr/>
          <p:nvPr/>
        </p:nvSpPr>
        <p:spPr>
          <a:xfrm>
            <a:off x="9235440" y="15544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235440" y="16276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EVALUATED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9235440" y="20116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Effectiveness measured</a:t>
            </a:r>
            <a:endParaRPr lang="en-US" sz="900"/>
          </a:p>
        </p:txBody>
      </p:sp>
      <p:sp>
        <p:nvSpPr>
          <p:cNvPr id="27" name="Text 25"/>
          <p:cNvSpPr/>
          <p:nvPr/>
        </p:nvSpPr>
        <p:spPr>
          <a:xfrm>
            <a:off x="640080" y="26060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PENDING_APPROVAL exceeds 48h → ESCALATED (Temporal timer)   |   ACTIVE can move to CANCELLED if dismissed</a:t>
            </a:r>
            <a:endParaRPr lang="en-US" sz="1000"/>
          </a:p>
        </p:txBody>
      </p:sp>
      <p:sp>
        <p:nvSpPr>
          <p:cNvPr id="28" name="Shape 26"/>
          <p:cNvSpPr/>
          <p:nvPr/>
        </p:nvSpPr>
        <p:spPr>
          <a:xfrm>
            <a:off x="457200" y="3108960"/>
            <a:ext cx="55778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" y="3108960"/>
            <a:ext cx="54864" cy="1280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1792" y="321868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INTERVENTION TYPES</a:t>
            </a:r>
            <a:endParaRPr lang="en-US" sz="1100"/>
          </a:p>
        </p:txBody>
      </p:sp>
      <p:sp>
        <p:nvSpPr>
          <p:cNvPr id="31" name="Text 29"/>
          <p:cNvSpPr/>
          <p:nvPr/>
        </p:nvSpPr>
        <p:spPr>
          <a:xfrm>
            <a:off x="640080" y="3547872"/>
            <a:ext cx="52852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Remedial Training  ·  1:1 Coaching  ·  Group Mentoring  ·  Self-paced Module</a:t>
            </a:r>
            <a:endParaRPr lang="en-US" sz="1000"/>
          </a:p>
        </p:txBody>
      </p:sp>
      <p:sp>
        <p:nvSpPr>
          <p:cNvPr id="32" name="Shape 30"/>
          <p:cNvSpPr/>
          <p:nvPr/>
        </p:nvSpPr>
        <p:spPr>
          <a:xfrm>
            <a:off x="457200" y="4526280"/>
            <a:ext cx="5577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7200" y="4526280"/>
            <a:ext cx="54864" cy="1508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1792" y="46360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DOES WHAT</a:t>
            </a:r>
            <a:endParaRPr lang="en-US" sz="1100"/>
          </a:p>
        </p:txBody>
      </p:sp>
      <p:sp>
        <p:nvSpPr>
          <p:cNvPr id="35" name="Text 33"/>
          <p:cNvSpPr/>
          <p:nvPr/>
        </p:nvSpPr>
        <p:spPr>
          <a:xfrm>
            <a:off x="640080" y="4965192"/>
            <a:ext cx="5285232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Trainer: Creates intervention, logs sessions, marks complete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L&amp;D Manager: Approves or rejects, reviews escalations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Employee: Notified after review, sees schedule &amp; notes</a:t>
            </a:r>
            <a:endParaRPr lang="en-US" sz="1000"/>
          </a:p>
        </p:txBody>
      </p:sp>
      <p:sp>
        <p:nvSpPr>
          <p:cNvPr id="36" name="Shape 34"/>
          <p:cNvSpPr/>
          <p:nvPr/>
        </p:nvSpPr>
        <p:spPr>
          <a:xfrm>
            <a:off x="6172200" y="3108960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172200" y="3108960"/>
            <a:ext cx="54864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36792" y="321868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 MEASUREMENT</a:t>
            </a:r>
            <a:endParaRPr lang="en-US" sz="1100"/>
          </a:p>
        </p:txBody>
      </p:sp>
      <p:sp>
        <p:nvSpPr>
          <p:cNvPr id="39" name="Text 37"/>
          <p:cNvSpPr/>
          <p:nvPr/>
        </p:nvSpPr>
        <p:spPr>
          <a:xfrm>
            <a:off x="6355080" y="3547872"/>
            <a:ext cx="5285232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Pre-intervention competency score recorded at creation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Post-intervention score recorded at completion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System calculates improvement % automatically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intervention.completed event → Risk Engine re-evaluates employee</a:t>
            </a:r>
            <a:endParaRPr lang="en-US" sz="1000"/>
          </a:p>
        </p:txBody>
      </p:sp>
      <p:sp>
        <p:nvSpPr>
          <p:cNvPr id="40" name="Shape 38"/>
          <p:cNvSpPr/>
          <p:nvPr/>
        </p:nvSpPr>
        <p:spPr>
          <a:xfrm>
            <a:off x="6172200" y="466344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172200" y="4663440"/>
            <a:ext cx="54864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36792" y="47731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&amp; ESCALATION</a:t>
            </a:r>
            <a:endParaRPr lang="en-US" sz="1100"/>
          </a:p>
        </p:txBody>
      </p:sp>
      <p:sp>
        <p:nvSpPr>
          <p:cNvPr id="43" name="Text 41"/>
          <p:cNvSpPr/>
          <p:nvPr/>
        </p:nvSpPr>
        <p:spPr>
          <a:xfrm>
            <a:off x="6355080" y="5102352"/>
            <a:ext cx="52852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48-hour approval SLA enforced via Temporal timer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SLA breach → intervention.escalated event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L&amp;D Admin alerted immediately for Critical cases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Escalations visible in L&amp;D Manager Escalation Queue</a:t>
            </a:r>
            <a:endParaRPr lang="en-US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Consent Management &amp; Compliance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privacy compliance across GDPR, CCPA, DPDP and PIPEDA from day one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588000" cy="11440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394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🇪🇺</a:t>
            </a:r>
            <a:endParaRPr lang="en-US" sz="2200"/>
          </a:p>
        </p:txBody>
      </p:sp>
      <p:sp>
        <p:nvSpPr>
          <p:cNvPr id="8" name="Text 6"/>
          <p:cNvSpPr/>
          <p:nvPr/>
        </p:nvSpPr>
        <p:spPr>
          <a:xfrm>
            <a:off x="1143000" y="1234440"/>
            <a:ext cx="160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GDPR / UK GDPR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1143000" y="1564008"/>
            <a:ext cx="480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Art.22 human-review gate, Right-to-Erasure (Art.17), consent &amp; opt-out, DPA signing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2820000" y="1234440"/>
            <a:ext cx="450000" cy="20116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20000" y="1234440"/>
            <a:ext cx="45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</a:t>
            </a:r>
            <a:endParaRPr lang="en-US" sz="800"/>
          </a:p>
        </p:txBody>
      </p:sp>
      <p:sp>
        <p:nvSpPr>
          <p:cNvPr id="12" name="Shape 10"/>
          <p:cNvSpPr/>
          <p:nvPr/>
        </p:nvSpPr>
        <p:spPr>
          <a:xfrm>
            <a:off x="3320000" y="1234440"/>
            <a:ext cx="450000" cy="20116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20000" y="1234440"/>
            <a:ext cx="45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UK</a:t>
            </a:r>
            <a:endParaRPr lang="en-US" sz="800"/>
          </a:p>
        </p:txBody>
      </p:sp>
      <p:sp>
        <p:nvSpPr>
          <p:cNvPr id="14" name="Shape 12"/>
          <p:cNvSpPr/>
          <p:nvPr/>
        </p:nvSpPr>
        <p:spPr>
          <a:xfrm>
            <a:off x="457200" y="2361280"/>
            <a:ext cx="5588000" cy="11440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65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🇺🇸</a:t>
            </a:r>
            <a:endParaRPr lang="en-US" sz="2200"/>
          </a:p>
        </p:txBody>
      </p:sp>
      <p:sp>
        <p:nvSpPr>
          <p:cNvPr id="16" name="Text 14"/>
          <p:cNvSpPr/>
          <p:nvPr/>
        </p:nvSpPr>
        <p:spPr>
          <a:xfrm>
            <a:off x="1143000" y="2498440"/>
            <a:ext cx="160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CCPA / CPRA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1143000" y="2828008"/>
            <a:ext cx="480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Automated-profiling opt-out, right-to-delete, SOC 2 Type II controls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2820000" y="2498440"/>
            <a:ext cx="450000" cy="20116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820000" y="2498440"/>
            <a:ext cx="45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</a:t>
            </a:r>
            <a:endParaRPr lang="en-US" sz="800"/>
          </a:p>
        </p:txBody>
      </p:sp>
      <p:sp>
        <p:nvSpPr>
          <p:cNvPr id="20" name="Shape 18"/>
          <p:cNvSpPr/>
          <p:nvPr/>
        </p:nvSpPr>
        <p:spPr>
          <a:xfrm>
            <a:off x="3320000" y="2498440"/>
            <a:ext cx="600000" cy="20116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20000" y="2498440"/>
            <a:ext cx="60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SOC2</a:t>
            </a:r>
            <a:endParaRPr lang="en-US" sz="800"/>
          </a:p>
        </p:txBody>
      </p:sp>
      <p:sp>
        <p:nvSpPr>
          <p:cNvPr id="22" name="Shape 20"/>
          <p:cNvSpPr/>
          <p:nvPr/>
        </p:nvSpPr>
        <p:spPr>
          <a:xfrm>
            <a:off x="457200" y="3625280"/>
            <a:ext cx="5588000" cy="11440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3926488"/>
            <a:ext cx="520418" cy="541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🇮🇳</a:t>
            </a:r>
            <a:endParaRPr lang="en-US" sz="2200"/>
          </a:p>
        </p:txBody>
      </p:sp>
      <p:sp>
        <p:nvSpPr>
          <p:cNvPr id="24" name="Text 22"/>
          <p:cNvSpPr/>
          <p:nvPr/>
        </p:nvSpPr>
        <p:spPr>
          <a:xfrm>
            <a:off x="1143000" y="3762440"/>
            <a:ext cx="160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DPDP Act 2023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1143000" y="4092008"/>
            <a:ext cx="4800000" cy="633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 obligations, erasure rights, data residency pinning to ap-south-1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2820000" y="3762440"/>
            <a:ext cx="650000" cy="20116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820000" y="3762440"/>
            <a:ext cx="65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</a:t>
            </a:r>
            <a:endParaRPr lang="en-US" sz="800"/>
          </a:p>
        </p:txBody>
      </p:sp>
      <p:sp>
        <p:nvSpPr>
          <p:cNvPr id="28" name="Shape 26"/>
          <p:cNvSpPr/>
          <p:nvPr/>
        </p:nvSpPr>
        <p:spPr>
          <a:xfrm>
            <a:off x="457200" y="4889280"/>
            <a:ext cx="5588000" cy="11440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5190488"/>
            <a:ext cx="520418" cy="541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🇨🇦</a:t>
            </a:r>
            <a:endParaRPr lang="en-US" sz="2200"/>
          </a:p>
        </p:txBody>
      </p:sp>
      <p:sp>
        <p:nvSpPr>
          <p:cNvPr id="30" name="Text 28"/>
          <p:cNvSpPr/>
          <p:nvPr/>
        </p:nvSpPr>
        <p:spPr>
          <a:xfrm>
            <a:off x="1143000" y="5026440"/>
            <a:ext cx="220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PIPEDA / Québec Law 25</a:t>
            </a:r>
            <a:endParaRPr lang="en-US" sz="1100"/>
          </a:p>
        </p:txBody>
      </p:sp>
      <p:sp>
        <p:nvSpPr>
          <p:cNvPr id="31" name="Text 29"/>
          <p:cNvSpPr/>
          <p:nvPr/>
        </p:nvSpPr>
        <p:spPr>
          <a:xfrm>
            <a:off x="1143000" y="5356008"/>
            <a:ext cx="4800000" cy="633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 consent, algorithmic transparency, enhanced rights for Québec residents</a:t>
            </a:r>
            <a:endParaRPr lang="en-US" sz="900"/>
          </a:p>
        </p:txBody>
      </p:sp>
      <p:sp>
        <p:nvSpPr>
          <p:cNvPr id="32" name="Shape 30"/>
          <p:cNvSpPr/>
          <p:nvPr/>
        </p:nvSpPr>
        <p:spPr>
          <a:xfrm>
            <a:off x="2870000" y="5026440"/>
            <a:ext cx="750000" cy="20116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885083" y="5026440"/>
            <a:ext cx="73491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Canada</a:t>
            </a:r>
            <a:endParaRPr lang="en-US" sz="800"/>
          </a:p>
        </p:txBody>
      </p:sp>
      <p:sp>
        <p:nvSpPr>
          <p:cNvPr id="34" name="Shape 32"/>
          <p:cNvSpPr/>
          <p:nvPr/>
        </p:nvSpPr>
        <p:spPr>
          <a:xfrm>
            <a:off x="6172200" y="109728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172200" y="1097280"/>
            <a:ext cx="54864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36792" y="12070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 PURPOSES MANAGED</a:t>
            </a:r>
            <a:endParaRPr lang="en-US" sz="1100"/>
          </a:p>
        </p:txBody>
      </p:sp>
      <p:sp>
        <p:nvSpPr>
          <p:cNvPr id="37" name="Text 35"/>
          <p:cNvSpPr/>
          <p:nvPr/>
        </p:nvSpPr>
        <p:spPr>
          <a:xfrm>
            <a:off x="6355080" y="1536192"/>
            <a:ext cx="5285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risk_profiling   ·   anonymised_benchmarking   ·   ml_scoring   ·   trainer_notes   ·   third_party_sharing</a:t>
            </a:r>
            <a:endParaRPr lang="en-US" sz="1000"/>
          </a:p>
        </p:txBody>
      </p:sp>
      <p:sp>
        <p:nvSpPr>
          <p:cNvPr id="38" name="Shape 36"/>
          <p:cNvSpPr/>
          <p:nvPr/>
        </p:nvSpPr>
        <p:spPr>
          <a:xfrm>
            <a:off x="6172200" y="2148840"/>
            <a:ext cx="5577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172200" y="2148840"/>
            <a:ext cx="54864" cy="2103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36792" y="22585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🗑️ RIGHT-TO-ERASURE SAGA (TEMPORAL)</a:t>
            </a:r>
            <a:endParaRPr lang="en-US" sz="1100"/>
          </a:p>
        </p:txBody>
      </p:sp>
      <p:sp>
        <p:nvSpPr>
          <p:cNvPr id="41" name="Text 39"/>
          <p:cNvSpPr/>
          <p:nvPr/>
        </p:nvSpPr>
        <p:spPr>
          <a:xfrm>
            <a:off x="6355080" y="2587752"/>
            <a:ext cx="5285232" cy="15727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/>
                <a:ea typeface="Segoe UI" pitchFamily="34" charset="-122"/>
                <a:cs typeface="Segoe UI"/>
              </a:rPr>
              <a:t>✓ Employee submits erasure request via self-service portal</a:t>
            </a:r>
            <a:endParaRPr lang="en-US" sz="1000">
              <a:latin typeface="Segoe UI"/>
              <a:cs typeface="Segoe UI"/>
            </a:endParaRPr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/>
                <a:ea typeface="Segoe UI" pitchFamily="34" charset="-122"/>
                <a:cs typeface="Segoe UI"/>
              </a:rPr>
              <a:t>✓ Temporal saga </a:t>
            </a:r>
            <a:r>
              <a:rPr lang="en-US" sz="1000" err="1">
                <a:solidFill>
                  <a:srgbClr val="374151"/>
                </a:solidFill>
                <a:latin typeface="Segoe UI"/>
                <a:ea typeface="Segoe UI" pitchFamily="34" charset="-122"/>
                <a:cs typeface="Segoe UI"/>
              </a:rPr>
              <a:t>anonymises</a:t>
            </a:r>
            <a:r>
              <a:rPr lang="en-US" sz="1000">
                <a:solidFill>
                  <a:srgbClr val="374151"/>
                </a:solidFill>
                <a:latin typeface="Segoe UI"/>
                <a:ea typeface="Segoe UI" pitchFamily="34" charset="-122"/>
                <a:cs typeface="Segoe UI"/>
              </a:rPr>
              <a:t> PII across all micro services</a:t>
            </a:r>
            <a:endParaRPr lang="en-US" sz="1000">
              <a:latin typeface="Segoe UI"/>
              <a:cs typeface="Segoe UI"/>
            </a:endParaRPr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/>
                <a:ea typeface="Segoe UI" pitchFamily="34" charset="-122"/>
                <a:cs typeface="Segoe UI"/>
              </a:rPr>
              <a:t>✓ </a:t>
            </a:r>
            <a:r>
              <a:rPr lang="en-US" sz="1000" err="1">
                <a:solidFill>
                  <a:srgbClr val="374151"/>
                </a:solidFill>
                <a:latin typeface="Segoe UI"/>
                <a:ea typeface="Segoe UI" pitchFamily="34" charset="-122"/>
                <a:cs typeface="Segoe UI"/>
              </a:rPr>
              <a:t>Pseudonymises</a:t>
            </a:r>
            <a:r>
              <a:rPr lang="en-US" sz="1000">
                <a:solidFill>
                  <a:srgbClr val="374151"/>
                </a:solidFill>
                <a:latin typeface="Segoe UI"/>
                <a:ea typeface="Segoe UI" pitchFamily="34" charset="-122"/>
                <a:cs typeface="Segoe UI"/>
              </a:rPr>
              <a:t> employee in all generated reports</a:t>
            </a:r>
            <a:endParaRPr lang="en-US" sz="1000">
              <a:latin typeface="Segoe UI"/>
              <a:cs typeface="Segoe UI"/>
            </a:endParaRPr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/>
                <a:ea typeface="Segoe UI" pitchFamily="34" charset="-122"/>
                <a:cs typeface="Segoe UI"/>
              </a:rPr>
              <a:t>✓ Audit log entries retained (legally required) but de-linked</a:t>
            </a:r>
            <a:endParaRPr lang="en-US" sz="1000">
              <a:latin typeface="Segoe UI"/>
              <a:cs typeface="Segoe UI"/>
            </a:endParaRPr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Signed deletion certificate generated and emailed</a:t>
            </a:r>
            <a:endParaRPr lang="en-US" sz="100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Target completion: 72 hours (regulated max: 30 days)</a:t>
            </a:r>
            <a:endParaRPr lang="en-US" sz="1000"/>
          </a:p>
        </p:txBody>
      </p:sp>
      <p:sp>
        <p:nvSpPr>
          <p:cNvPr id="42" name="Shape 40"/>
          <p:cNvSpPr/>
          <p:nvPr/>
        </p:nvSpPr>
        <p:spPr>
          <a:xfrm>
            <a:off x="6172200" y="4389120"/>
            <a:ext cx="55778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172200" y="4389120"/>
            <a:ext cx="54864" cy="1645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36792" y="449884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AUDIT TRAIL</a:t>
            </a:r>
            <a:endParaRPr lang="en-US" sz="1100"/>
          </a:p>
        </p:txBody>
      </p:sp>
      <p:sp>
        <p:nvSpPr>
          <p:cNvPr id="45" name="Text 43"/>
          <p:cNvSpPr/>
          <p:nvPr/>
        </p:nvSpPr>
        <p:spPr>
          <a:xfrm>
            <a:off x="6355080" y="4828032"/>
            <a:ext cx="528523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Hash-chained audit log stored in S3 with Object Lock (WORM). Every consent decision, review action, and erasure event is tamper-proof. Full traceability for regulatory inspection.</a:t>
            </a:r>
            <a:endParaRPr lang="en-US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🛠️ Technology Stack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Cloud-agnostic design — AWS primary, Azure/GCP portable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77977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188720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800"/>
          </a:p>
        </p:txBody>
      </p:sp>
      <p:sp>
        <p:nvSpPr>
          <p:cNvPr id="8" name="Text 6"/>
          <p:cNvSpPr/>
          <p:nvPr/>
        </p:nvSpPr>
        <p:spPr>
          <a:xfrm>
            <a:off x="594360" y="1426464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Boot 3 / Java 21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microservices, sole primary backend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3328416" y="1097280"/>
            <a:ext cx="277977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65576" y="1188720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800"/>
          </a:p>
        </p:txBody>
      </p:sp>
      <p:sp>
        <p:nvSpPr>
          <p:cNvPr id="12" name="Text 10"/>
          <p:cNvSpPr/>
          <p:nvPr/>
        </p:nvSpPr>
        <p:spPr>
          <a:xfrm>
            <a:off x="3465576" y="1426464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 + Vite + TypeScript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3465576" y="173736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TanStack Query · shadcn/ui · Tailwind CSS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6199632" y="1097280"/>
            <a:ext cx="277977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36792" y="1188720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BUS</a:t>
            </a:r>
            <a:endParaRPr lang="en-US" sz="800"/>
          </a:p>
        </p:txBody>
      </p:sp>
      <p:sp>
        <p:nvSpPr>
          <p:cNvPr id="16" name="Text 14"/>
          <p:cNvSpPr/>
          <p:nvPr/>
        </p:nvSpPr>
        <p:spPr>
          <a:xfrm>
            <a:off x="6336792" y="1426464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Apache Kafka (AWS MSK)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6336792" y="173736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Tenant-scoped topics · Protobuf schemas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9070848" y="1097280"/>
            <a:ext cx="277977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208008" y="1188720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ENGINE</a:t>
            </a:r>
            <a:endParaRPr lang="en-US" sz="800"/>
          </a:p>
        </p:txBody>
      </p:sp>
      <p:sp>
        <p:nvSpPr>
          <p:cNvPr id="20" name="Text 18"/>
          <p:cNvSpPr/>
          <p:nvPr/>
        </p:nvSpPr>
        <p:spPr>
          <a:xfrm>
            <a:off x="9208008" y="1426464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Temporal OSS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9208008" y="173736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Provisioning · Intervention · Erasure sagas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457200" y="2240280"/>
            <a:ext cx="277977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2331720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800"/>
          </a:p>
        </p:txBody>
      </p:sp>
      <p:sp>
        <p:nvSpPr>
          <p:cNvPr id="24" name="Text 22"/>
          <p:cNvSpPr/>
          <p:nvPr/>
        </p:nvSpPr>
        <p:spPr>
          <a:xfrm>
            <a:off x="594360" y="2569464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16+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594360" y="288036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Schema-per-service isolation, JSONB rules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3328416" y="2240280"/>
            <a:ext cx="277977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65576" y="2331720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CACHE</a:t>
            </a:r>
            <a:endParaRPr lang="en-US" sz="800"/>
          </a:p>
        </p:txBody>
      </p:sp>
      <p:sp>
        <p:nvSpPr>
          <p:cNvPr id="28" name="Text 26"/>
          <p:cNvSpPr/>
          <p:nvPr/>
        </p:nvSpPr>
        <p:spPr>
          <a:xfrm>
            <a:off x="3465576" y="2569464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Redis 7 (ElastiCache)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3465576" y="288036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 context · Rules cache · Sessions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6199632" y="2240280"/>
            <a:ext cx="277977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36792" y="2331720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 / OUTBOX</a:t>
            </a:r>
            <a:endParaRPr lang="en-US" sz="800"/>
          </a:p>
        </p:txBody>
      </p:sp>
      <p:sp>
        <p:nvSpPr>
          <p:cNvPr id="32" name="Text 30"/>
          <p:cNvSpPr/>
          <p:nvPr/>
        </p:nvSpPr>
        <p:spPr>
          <a:xfrm>
            <a:off x="6336792" y="2569464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Debezium + Outbox Pattern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6336792" y="288036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Exactly-once delivery via PostgreSQL CDC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9070848" y="2240280"/>
            <a:ext cx="277977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208008" y="2331720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GATEWAY</a:t>
            </a:r>
            <a:endParaRPr lang="en-US" sz="800"/>
          </a:p>
        </p:txBody>
      </p:sp>
      <p:sp>
        <p:nvSpPr>
          <p:cNvPr id="36" name="Text 34"/>
          <p:cNvSpPr/>
          <p:nvPr/>
        </p:nvSpPr>
        <p:spPr>
          <a:xfrm>
            <a:off x="9208008" y="2569464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Kong Gateway OSS</a:t>
            </a:r>
            <a:endParaRPr lang="en-US" sz="1100"/>
          </a:p>
        </p:txBody>
      </p:sp>
      <p:sp>
        <p:nvSpPr>
          <p:cNvPr id="37" name="Text 35"/>
          <p:cNvSpPr/>
          <p:nvPr/>
        </p:nvSpPr>
        <p:spPr>
          <a:xfrm>
            <a:off x="9208008" y="288036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JWKS-local JWT · Rate limiting · Feature flags</a:t>
            </a:r>
            <a:endParaRPr lang="en-US" sz="900"/>
          </a:p>
        </p:txBody>
      </p:sp>
      <p:sp>
        <p:nvSpPr>
          <p:cNvPr id="38" name="Shape 36"/>
          <p:cNvSpPr/>
          <p:nvPr/>
        </p:nvSpPr>
        <p:spPr>
          <a:xfrm>
            <a:off x="457200" y="3383280"/>
            <a:ext cx="277977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94360" y="3474720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MESH</a:t>
            </a:r>
            <a:endParaRPr lang="en-US" sz="800"/>
          </a:p>
        </p:txBody>
      </p:sp>
      <p:sp>
        <p:nvSpPr>
          <p:cNvPr id="40" name="Text 38"/>
          <p:cNvSpPr/>
          <p:nvPr/>
        </p:nvSpPr>
        <p:spPr>
          <a:xfrm>
            <a:off x="594360" y="3712464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Istio on EKS</a:t>
            </a:r>
            <a:endParaRPr lang="en-US" sz="1100"/>
          </a:p>
        </p:txBody>
      </p:sp>
      <p:sp>
        <p:nvSpPr>
          <p:cNvPr id="41" name="Text 39"/>
          <p:cNvSpPr/>
          <p:nvPr/>
        </p:nvSpPr>
        <p:spPr>
          <a:xfrm>
            <a:off x="594360" y="402336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mTLS · Circuit breakers · Traffic splitting</a:t>
            </a:r>
            <a:endParaRPr lang="en-US" sz="900"/>
          </a:p>
        </p:txBody>
      </p:sp>
      <p:sp>
        <p:nvSpPr>
          <p:cNvPr id="42" name="Shape 40"/>
          <p:cNvSpPr/>
          <p:nvPr/>
        </p:nvSpPr>
        <p:spPr>
          <a:xfrm>
            <a:off x="3328416" y="3383280"/>
            <a:ext cx="277977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465576" y="3474720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SECRETS / KMS</a:t>
            </a:r>
            <a:endParaRPr lang="en-US" sz="800"/>
          </a:p>
        </p:txBody>
      </p:sp>
      <p:sp>
        <p:nvSpPr>
          <p:cNvPr id="44" name="Text 42"/>
          <p:cNvSpPr/>
          <p:nvPr/>
        </p:nvSpPr>
        <p:spPr>
          <a:xfrm>
            <a:off x="3465576" y="3712464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HashiCorp Vault + AWS KMS</a:t>
            </a:r>
            <a:endParaRPr lang="en-US" sz="1100"/>
          </a:p>
        </p:txBody>
      </p:sp>
      <p:sp>
        <p:nvSpPr>
          <p:cNvPr id="45" name="Text 43"/>
          <p:cNvSpPr/>
          <p:nvPr/>
        </p:nvSpPr>
        <p:spPr>
          <a:xfrm>
            <a:off x="3465576" y="402336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Per-tenant DEK · Envelope encryption</a:t>
            </a:r>
            <a:endParaRPr lang="en-US" sz="900"/>
          </a:p>
        </p:txBody>
      </p:sp>
      <p:sp>
        <p:nvSpPr>
          <p:cNvPr id="46" name="Shape 44"/>
          <p:cNvSpPr/>
          <p:nvPr/>
        </p:nvSpPr>
        <p:spPr>
          <a:xfrm>
            <a:off x="6199632" y="3383280"/>
            <a:ext cx="277977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336792" y="3474720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OBSERVABILITY</a:t>
            </a:r>
            <a:endParaRPr lang="en-US" sz="800"/>
          </a:p>
        </p:txBody>
      </p:sp>
      <p:sp>
        <p:nvSpPr>
          <p:cNvPr id="48" name="Text 46"/>
          <p:cNvSpPr/>
          <p:nvPr/>
        </p:nvSpPr>
        <p:spPr>
          <a:xfrm>
            <a:off x="6336792" y="3712464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OpenTelemetry → Grafana</a:t>
            </a:r>
            <a:endParaRPr lang="en-US" sz="1100"/>
          </a:p>
        </p:txBody>
      </p:sp>
      <p:sp>
        <p:nvSpPr>
          <p:cNvPr id="49" name="Text 47"/>
          <p:cNvSpPr/>
          <p:nvPr/>
        </p:nvSpPr>
        <p:spPr>
          <a:xfrm>
            <a:off x="6336792" y="402336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Metrics (Prometheus) · Traces (Tempo) · Logs (Loki)</a:t>
            </a:r>
            <a:endParaRPr lang="en-US" sz="900"/>
          </a:p>
        </p:txBody>
      </p:sp>
      <p:sp>
        <p:nvSpPr>
          <p:cNvPr id="50" name="Shape 48"/>
          <p:cNvSpPr/>
          <p:nvPr/>
        </p:nvSpPr>
        <p:spPr>
          <a:xfrm>
            <a:off x="9070848" y="3383280"/>
            <a:ext cx="277977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9208008" y="3474720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</a:t>
            </a:r>
            <a:endParaRPr lang="en-US" sz="800"/>
          </a:p>
        </p:txBody>
      </p:sp>
      <p:sp>
        <p:nvSpPr>
          <p:cNvPr id="52" name="Text 50"/>
          <p:cNvSpPr/>
          <p:nvPr/>
        </p:nvSpPr>
        <p:spPr>
          <a:xfrm>
            <a:off x="9208008" y="3712464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 + ArgoCD</a:t>
            </a:r>
            <a:endParaRPr lang="en-US" sz="1100"/>
          </a:p>
        </p:txBody>
      </p:sp>
      <p:sp>
        <p:nvSpPr>
          <p:cNvPr id="53" name="Text 51"/>
          <p:cNvSpPr/>
          <p:nvPr/>
        </p:nvSpPr>
        <p:spPr>
          <a:xfrm>
            <a:off x="9208008" y="402336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GitOps: dev → test → staging → prod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Performance &amp; SLA Targets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Production-grade targets designed for enterprise-scale regulated workloads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Response Time (P95)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2194560" y="11430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200 ms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3291840" y="1143000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29000" y="1143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Load Time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5029200" y="11430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2 s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457200" y="1709928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170992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Profile Generation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2194560" y="1709928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500 ms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3291840" y="1709928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29000" y="170992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Engine Batch (1,000 employees)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5029200" y="1709928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2 min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457200" y="2276856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2276856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 Report Generation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2194560" y="2276856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30 s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3291840" y="2276856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29000" y="2276856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 Provisioning (Temporal)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5029200" y="2276856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5 min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457200" y="2843784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2843784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Data Sync Latency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2194560" y="2843784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1 hour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3291840" y="2843784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29000" y="2843784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 Context Resolution (cached)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5029200" y="2843784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5 ms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6172200" y="114300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72200" y="1143000"/>
            <a:ext cx="54864" cy="13716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36792" y="125272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RIGHT-TO-ERASURE SLA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6355080" y="1554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completion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7955280" y="1673352"/>
            <a:ext cx="27432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955280" y="1673352"/>
            <a:ext cx="822960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789920" y="15544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 hrs</a:t>
            </a:r>
            <a:endParaRPr lang="en-US" sz="900"/>
          </a:p>
        </p:txBody>
      </p:sp>
      <p:sp>
        <p:nvSpPr>
          <p:cNvPr id="37" name="Text 35"/>
          <p:cNvSpPr/>
          <p:nvPr/>
        </p:nvSpPr>
        <p:spPr>
          <a:xfrm>
            <a:off x="6355080" y="1965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Regulated maximum</a:t>
            </a:r>
            <a:endParaRPr lang="en-US" sz="900"/>
          </a:p>
        </p:txBody>
      </p:sp>
      <p:sp>
        <p:nvSpPr>
          <p:cNvPr id="38" name="Shape 36"/>
          <p:cNvSpPr/>
          <p:nvPr/>
        </p:nvSpPr>
        <p:spPr>
          <a:xfrm>
            <a:off x="7955280" y="2084832"/>
            <a:ext cx="27432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789920" y="196596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days</a:t>
            </a:r>
            <a:endParaRPr lang="en-US" sz="900"/>
          </a:p>
        </p:txBody>
      </p:sp>
      <p:sp>
        <p:nvSpPr>
          <p:cNvPr id="40" name="Shape 38"/>
          <p:cNvSpPr/>
          <p:nvPr/>
        </p:nvSpPr>
        <p:spPr>
          <a:xfrm>
            <a:off x="6172200" y="269748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172200" y="2697480"/>
            <a:ext cx="54864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36792" y="28072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AVAILABILITY SLA</a:t>
            </a:r>
            <a:endParaRPr lang="en-US" sz="1100"/>
          </a:p>
        </p:txBody>
      </p:sp>
      <p:sp>
        <p:nvSpPr>
          <p:cNvPr id="43" name="Text 41"/>
          <p:cNvSpPr/>
          <p:nvPr/>
        </p:nvSpPr>
        <p:spPr>
          <a:xfrm>
            <a:off x="6355080" y="3108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(99.9%)</a:t>
            </a:r>
            <a:endParaRPr lang="en-US" sz="900"/>
          </a:p>
        </p:txBody>
      </p:sp>
      <p:sp>
        <p:nvSpPr>
          <p:cNvPr id="44" name="Shape 42"/>
          <p:cNvSpPr/>
          <p:nvPr/>
        </p:nvSpPr>
        <p:spPr>
          <a:xfrm>
            <a:off x="7955280" y="3227832"/>
            <a:ext cx="27432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955280" y="3227832"/>
            <a:ext cx="2734056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0789920" y="310896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99.9%</a:t>
            </a:r>
            <a:endParaRPr lang="en-US" sz="900"/>
          </a:p>
        </p:txBody>
      </p:sp>
      <p:sp>
        <p:nvSpPr>
          <p:cNvPr id="47" name="Text 45"/>
          <p:cNvSpPr/>
          <p:nvPr/>
        </p:nvSpPr>
        <p:spPr>
          <a:xfrm>
            <a:off x="6355080" y="3520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/ Starter (99.5%)</a:t>
            </a:r>
            <a:endParaRPr lang="en-US" sz="900"/>
          </a:p>
        </p:txBody>
      </p:sp>
      <p:sp>
        <p:nvSpPr>
          <p:cNvPr id="48" name="Shape 46"/>
          <p:cNvSpPr/>
          <p:nvPr/>
        </p:nvSpPr>
        <p:spPr>
          <a:xfrm>
            <a:off x="7955280" y="3639312"/>
            <a:ext cx="27432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955280" y="3639312"/>
            <a:ext cx="2729484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0789920" y="352044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99.5%</a:t>
            </a:r>
            <a:endParaRPr lang="en-US" sz="900"/>
          </a:p>
        </p:txBody>
      </p:sp>
      <p:sp>
        <p:nvSpPr>
          <p:cNvPr id="51" name="Shape 49"/>
          <p:cNvSpPr/>
          <p:nvPr/>
        </p:nvSpPr>
        <p:spPr>
          <a:xfrm>
            <a:off x="6172200" y="425196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172200" y="4251960"/>
            <a:ext cx="54864" cy="1463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336792" y="436168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DLQ ALERT THRESHOLD</a:t>
            </a:r>
            <a:endParaRPr lang="en-US" sz="1100"/>
          </a:p>
        </p:txBody>
      </p:sp>
      <p:sp>
        <p:nvSpPr>
          <p:cNvPr id="54" name="Text 52"/>
          <p:cNvSpPr/>
          <p:nvPr/>
        </p:nvSpPr>
        <p:spPr>
          <a:xfrm>
            <a:off x="6355080" y="4690872"/>
            <a:ext cx="528523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message in a Dead Letter Queue (depth &gt; 0) triggers a PagerDuty alert within 5 minutes. Ensures no silent event loss in the pipeline.</a:t>
            </a:r>
            <a:endParaRPr lang="en-US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🗓️ Delivery Timeline — 20 Weeks to Production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structured phases from infrastructure foundations to full compliance go-live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1563624" y="1508760"/>
            <a:ext cx="2258568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89304" y="1234440"/>
            <a:ext cx="548640" cy="5486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89304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Foundation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Weeks 1–4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202996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 provisioning (Temporal)</a:t>
            </a:r>
            <a:endParaRPr lang="en-US" sz="90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(JWKS)</a:t>
            </a:r>
            <a:endParaRPr lang="en-US" sz="90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 isolation</a:t>
            </a:r>
            <a:endParaRPr lang="en-US" sz="90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Kafka + outbox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3822192" y="1508760"/>
            <a:ext cx="2258568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47872" y="1234440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47872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2715768" y="1874520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Services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2715768" y="2148840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Weeks 5–8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2807208" y="2468880"/>
            <a:ext cx="202996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Ingestion adapters</a:t>
            </a:r>
            <a:endParaRPr lang="en-US" sz="90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Profile Service</a:t>
            </a:r>
            <a:endParaRPr lang="en-US" sz="90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Engine</a:t>
            </a:r>
            <a:endParaRPr lang="en-US" sz="90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Management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6080760" y="1508760"/>
            <a:ext cx="2258568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806440" y="1234440"/>
            <a:ext cx="548640" cy="5486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0644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4974336" y="1874520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Workflows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4974336" y="2148840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Weeks 9–12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5065776" y="2468880"/>
            <a:ext cx="202996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Intervention Service (Temporal)</a:t>
            </a:r>
            <a:endParaRPr lang="en-US" sz="90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 Service</a:t>
            </a:r>
            <a:endParaRPr lang="en-US" sz="90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 + WebSocket</a:t>
            </a:r>
            <a:endParaRPr lang="en-US" sz="90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Human-review gate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8339328" y="1508760"/>
            <a:ext cx="2258568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065008" y="1234440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065008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7232904" y="1874520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 Layer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7232904" y="2148840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Weeks 13–16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7324344" y="2468880"/>
            <a:ext cx="202996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 Reporting (CDC)</a:t>
            </a:r>
            <a:endParaRPr lang="en-US" sz="90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Service (hash-chained)</a:t>
            </a:r>
            <a:endParaRPr lang="en-US" sz="90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 Object Lock</a:t>
            </a:r>
            <a:endParaRPr lang="en-US" sz="90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dashboards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10323576" y="1234440"/>
            <a:ext cx="548640" cy="5486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323576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/>
          </a:p>
        </p:txBody>
      </p:sp>
      <p:sp>
        <p:nvSpPr>
          <p:cNvPr id="32" name="Text 30"/>
          <p:cNvSpPr/>
          <p:nvPr/>
        </p:nvSpPr>
        <p:spPr>
          <a:xfrm>
            <a:off x="9491472" y="1874520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Go-Live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9491472" y="2148840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Weeks 17–20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9582912" y="2468880"/>
            <a:ext cx="202996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Right-to-erasure saga</a:t>
            </a:r>
            <a:endParaRPr lang="en-US" sz="90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GDPR/DPDP/CCPA/PIPEDA</a:t>
            </a:r>
            <a:endParaRPr lang="en-US" sz="90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WCAG 2.1 AA</a:t>
            </a:r>
            <a:endParaRPr lang="en-US" sz="90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+ pen testing</a:t>
            </a:r>
            <a:endParaRPr lang="en-US" sz="900"/>
          </a:p>
        </p:txBody>
      </p:sp>
      <p:sp>
        <p:nvSpPr>
          <p:cNvPr id="35" name="Shape 33"/>
          <p:cNvSpPr/>
          <p:nvPr/>
        </p:nvSpPr>
        <p:spPr>
          <a:xfrm>
            <a:off x="457200" y="4114800"/>
            <a:ext cx="5577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57200" y="4114800"/>
            <a:ext cx="54864" cy="19202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1792" y="422452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POC STATUS TODAY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640080" y="4526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6 microservices</a:t>
            </a:r>
            <a:endParaRPr lang="en-US" sz="1000"/>
          </a:p>
        </p:txBody>
      </p:sp>
      <p:sp>
        <p:nvSpPr>
          <p:cNvPr id="39" name="Shape 37"/>
          <p:cNvSpPr/>
          <p:nvPr/>
        </p:nvSpPr>
        <p:spPr>
          <a:xfrm>
            <a:off x="2788920" y="4617720"/>
            <a:ext cx="2194560" cy="1188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788920" y="4617720"/>
            <a:ext cx="2194560" cy="1188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74920" y="4526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Done</a:t>
            </a:r>
            <a:endParaRPr lang="en-US" sz="900"/>
          </a:p>
        </p:txBody>
      </p:sp>
      <p:sp>
        <p:nvSpPr>
          <p:cNvPr id="42" name="Text 40"/>
          <p:cNvSpPr/>
          <p:nvPr/>
        </p:nvSpPr>
        <p:spPr>
          <a:xfrm>
            <a:off x="640080" y="4892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frontend (8 pages)</a:t>
            </a:r>
            <a:endParaRPr lang="en-US" sz="1000"/>
          </a:p>
        </p:txBody>
      </p:sp>
      <p:sp>
        <p:nvSpPr>
          <p:cNvPr id="43" name="Shape 41"/>
          <p:cNvSpPr/>
          <p:nvPr/>
        </p:nvSpPr>
        <p:spPr>
          <a:xfrm>
            <a:off x="2788920" y="4983480"/>
            <a:ext cx="2194560" cy="1188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788920" y="4983480"/>
            <a:ext cx="2194560" cy="1188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074920" y="4892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Done</a:t>
            </a:r>
            <a:endParaRPr lang="en-US" sz="900"/>
          </a:p>
        </p:txBody>
      </p:sp>
      <p:sp>
        <p:nvSpPr>
          <p:cNvPr id="46" name="Text 44"/>
          <p:cNvSpPr/>
          <p:nvPr/>
        </p:nvSpPr>
        <p:spPr>
          <a:xfrm>
            <a:off x="640080" y="5257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event pipeline</a:t>
            </a:r>
            <a:endParaRPr lang="en-US" sz="1000"/>
          </a:p>
        </p:txBody>
      </p:sp>
      <p:sp>
        <p:nvSpPr>
          <p:cNvPr id="47" name="Shape 45"/>
          <p:cNvSpPr/>
          <p:nvPr/>
        </p:nvSpPr>
        <p:spPr>
          <a:xfrm>
            <a:off x="2788920" y="5349240"/>
            <a:ext cx="2194560" cy="1188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788920" y="5349240"/>
            <a:ext cx="2194560" cy="1188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074920" y="5257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Done</a:t>
            </a:r>
            <a:endParaRPr lang="en-US" sz="900"/>
          </a:p>
        </p:txBody>
      </p:sp>
      <p:sp>
        <p:nvSpPr>
          <p:cNvPr id="50" name="Text 48"/>
          <p:cNvSpPr/>
          <p:nvPr/>
        </p:nvSpPr>
        <p:spPr>
          <a:xfrm>
            <a:off x="640080" y="5623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 data &amp; demo script</a:t>
            </a:r>
            <a:endParaRPr lang="en-US" sz="1000"/>
          </a:p>
        </p:txBody>
      </p:sp>
      <p:sp>
        <p:nvSpPr>
          <p:cNvPr id="51" name="Shape 49"/>
          <p:cNvSpPr/>
          <p:nvPr/>
        </p:nvSpPr>
        <p:spPr>
          <a:xfrm>
            <a:off x="2788920" y="5715000"/>
            <a:ext cx="2194560" cy="1188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2788920" y="5715000"/>
            <a:ext cx="2194560" cy="1188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074920" y="5623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Done</a:t>
            </a:r>
            <a:endParaRPr lang="en-US" sz="900"/>
          </a:p>
        </p:txBody>
      </p:sp>
      <p:sp>
        <p:nvSpPr>
          <p:cNvPr id="54" name="Shape 52"/>
          <p:cNvSpPr/>
          <p:nvPr/>
        </p:nvSpPr>
        <p:spPr>
          <a:xfrm>
            <a:off x="6172200" y="4114800"/>
            <a:ext cx="5577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172200" y="4114800"/>
            <a:ext cx="54864" cy="1920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336792" y="422452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SCOPE (POST GA)</a:t>
            </a:r>
            <a:endParaRPr lang="en-US" sz="1100"/>
          </a:p>
        </p:txBody>
      </p:sp>
      <p:sp>
        <p:nvSpPr>
          <p:cNvPr id="57" name="Shape 55"/>
          <p:cNvSpPr/>
          <p:nvPr/>
        </p:nvSpPr>
        <p:spPr>
          <a:xfrm>
            <a:off x="6355080" y="4526280"/>
            <a:ext cx="3200400" cy="292608"/>
          </a:xfrm>
          <a:prstGeom prst="roundRect">
            <a:avLst>
              <a:gd name="adj" fmla="val 1875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355080" y="45262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P1: E-signature (21 CFR Part 11)</a:t>
            </a:r>
            <a:endParaRPr lang="en-US" sz="900"/>
          </a:p>
        </p:txBody>
      </p:sp>
      <p:sp>
        <p:nvSpPr>
          <p:cNvPr id="59" name="Shape 57"/>
          <p:cNvSpPr/>
          <p:nvPr/>
        </p:nvSpPr>
        <p:spPr>
          <a:xfrm>
            <a:off x="6355080" y="4937760"/>
            <a:ext cx="3200400" cy="292608"/>
          </a:xfrm>
          <a:prstGeom prst="roundRect">
            <a:avLst>
              <a:gd name="adj" fmla="val 18750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355080" y="49377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P1: Developer Portal (Stoplight)</a:t>
            </a:r>
            <a:endParaRPr lang="en-US" sz="900"/>
          </a:p>
        </p:txBody>
      </p:sp>
      <p:sp>
        <p:nvSpPr>
          <p:cNvPr id="61" name="Shape 59"/>
          <p:cNvSpPr/>
          <p:nvPr/>
        </p:nvSpPr>
        <p:spPr>
          <a:xfrm>
            <a:off x="6355080" y="5349240"/>
            <a:ext cx="2926080" cy="292608"/>
          </a:xfrm>
          <a:prstGeom prst="roundRect">
            <a:avLst>
              <a:gd name="adj" fmla="val 18750"/>
            </a:avLst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355080" y="53492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P2: ClickHouse OLAP Analytics</a:t>
            </a:r>
            <a:endParaRPr lang="en-US" sz="900"/>
          </a:p>
        </p:txBody>
      </p:sp>
      <p:sp>
        <p:nvSpPr>
          <p:cNvPr id="63" name="Shape 61"/>
          <p:cNvSpPr/>
          <p:nvPr/>
        </p:nvSpPr>
        <p:spPr>
          <a:xfrm>
            <a:off x="6355080" y="5760720"/>
            <a:ext cx="2834640" cy="292608"/>
          </a:xfrm>
          <a:prstGeom prst="roundRect">
            <a:avLst>
              <a:gd name="adj" fmla="val 1875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355080" y="576072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P2: ML Risk Scoring (MLflow)</a:t>
            </a:r>
            <a:endParaRPr lang="en-US" sz="900"/>
          </a:p>
        </p:txBody>
      </p:sp>
      <p:sp>
        <p:nvSpPr>
          <p:cNvPr id="65" name="Shape 63"/>
          <p:cNvSpPr/>
          <p:nvPr/>
        </p:nvSpPr>
        <p:spPr>
          <a:xfrm>
            <a:off x="6355080" y="6172200"/>
            <a:ext cx="2743200" cy="292608"/>
          </a:xfrm>
          <a:prstGeom prst="roundRect">
            <a:avLst>
              <a:gd name="adj" fmla="val 18750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355080" y="61722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P2: Cross-tenant benchmarks</a:t>
            </a:r>
            <a:endParaRPr lang="en-US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🔬 POC Demo — Live Stack Walkthrough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Spring Boot microservices + React frontend wired over Kafka — running right now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577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261872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261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1143000" y="116128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Multi-Tenant Login (RBAC)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1143000" y="1408176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Dev-login → pick Acme Corp + LD_ADMIN. JWT minted; all API calls scoped to tenant_acme_corp. Switch to Globex to show isolation.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5577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4360" y="2176272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1143000" y="207568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— CDC Read Model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1143000" y="2322576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 compliance 92%, 6 awaiting review, 15 active interventions — all built by Reporting Service consuming Kafka events. Zero manual refresh.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5577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4360" y="3090672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3090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1143000" y="299008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At-Risk Monitor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1143000" y="3236976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learners flagged: 1 Critical, 3 High, 2 Medium. Click any learner → full learning profile (attendance, scores, milestones, metrics).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5577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4360" y="4005072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1143000" y="390448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Human-Review Gate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1143000" y="4151376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/ Override / Dismiss a Critical assessment. Watch awaiting review KPI drop on the dashboard in real time.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6172200" y="1097280"/>
            <a:ext cx="5577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309360" y="1261872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09360" y="1261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/>
          </a:p>
        </p:txBody>
      </p:sp>
      <p:sp>
        <p:nvSpPr>
          <p:cNvPr id="29" name="Text 27"/>
          <p:cNvSpPr/>
          <p:nvPr/>
        </p:nvSpPr>
        <p:spPr>
          <a:xfrm>
            <a:off x="6858000" y="116128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Intervention Lifecycle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6858000" y="1408176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a Recommended intervention → Active → log sessions → Complete with pre/post scores. Dashboard "Active Interventions" updates live.</a:t>
            </a:r>
            <a:endParaRPr lang="en-US" sz="900"/>
          </a:p>
        </p:txBody>
      </p:sp>
      <p:sp>
        <p:nvSpPr>
          <p:cNvPr id="31" name="Shape 29"/>
          <p:cNvSpPr/>
          <p:nvPr/>
        </p:nvSpPr>
        <p:spPr>
          <a:xfrm>
            <a:off x="6172200" y="2011680"/>
            <a:ext cx="5577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309360" y="2176272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09360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400"/>
          </a:p>
        </p:txBody>
      </p:sp>
      <p:sp>
        <p:nvSpPr>
          <p:cNvPr id="34" name="Text 32"/>
          <p:cNvSpPr/>
          <p:nvPr/>
        </p:nvSpPr>
        <p:spPr>
          <a:xfrm>
            <a:off x="6858000" y="207568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Ingestion Demo</a:t>
            </a:r>
            <a:endParaRPr lang="en-US" sz="1100"/>
          </a:p>
        </p:txBody>
      </p:sp>
      <p:sp>
        <p:nvSpPr>
          <p:cNvPr id="35" name="Text 33"/>
          <p:cNvSpPr/>
          <p:nvPr/>
        </p:nvSpPr>
        <p:spPr>
          <a:xfrm>
            <a:off x="6858000" y="2322576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Re-run ingest with a failing assessment for a healthy employee. Watch a NEW at-risk learner appear after the event propagates through the pipeline.</a:t>
            </a:r>
            <a:endParaRPr lang="en-US" sz="900"/>
          </a:p>
        </p:txBody>
      </p:sp>
      <p:sp>
        <p:nvSpPr>
          <p:cNvPr id="36" name="Shape 34"/>
          <p:cNvSpPr/>
          <p:nvPr/>
        </p:nvSpPr>
        <p:spPr>
          <a:xfrm>
            <a:off x="6172200" y="2926080"/>
            <a:ext cx="5577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309360" y="3090672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09360" y="3090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400"/>
          </a:p>
        </p:txBody>
      </p:sp>
      <p:sp>
        <p:nvSpPr>
          <p:cNvPr id="39" name="Text 37"/>
          <p:cNvSpPr/>
          <p:nvPr/>
        </p:nvSpPr>
        <p:spPr>
          <a:xfrm>
            <a:off x="6858000" y="299008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 Opt-Out + Pseudonymisation</a:t>
            </a:r>
            <a:endParaRPr lang="en-US" sz="1100"/>
          </a:p>
        </p:txBody>
      </p:sp>
      <p:sp>
        <p:nvSpPr>
          <p:cNvPr id="40" name="Text 38"/>
          <p:cNvSpPr/>
          <p:nvPr/>
        </p:nvSpPr>
        <p:spPr>
          <a:xfrm>
            <a:off x="6858000" y="3236976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Settings → withdraw risk_profiling consent. Employee drops off at-risk list. Generate report → employee is REDACTED-… in CSV download.</a:t>
            </a:r>
            <a:endParaRPr lang="en-US" sz="900"/>
          </a:p>
        </p:txBody>
      </p:sp>
      <p:sp>
        <p:nvSpPr>
          <p:cNvPr id="41" name="Shape 39"/>
          <p:cNvSpPr/>
          <p:nvPr/>
        </p:nvSpPr>
        <p:spPr>
          <a:xfrm>
            <a:off x="6172200" y="4800600"/>
            <a:ext cx="5577840" cy="1280160"/>
          </a:xfrm>
          <a:prstGeom prst="roundRect">
            <a:avLst>
              <a:gd name="adj" fmla="val 5714"/>
            </a:avLst>
          </a:prstGeom>
          <a:solidFill>
            <a:srgbClr val="F0FDF4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36792" y="491032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WHAT THE POC PROVES</a:t>
            </a:r>
            <a:endParaRPr lang="en-US" sz="1100"/>
          </a:p>
        </p:txBody>
      </p:sp>
      <p:sp>
        <p:nvSpPr>
          <p:cNvPr id="43" name="Text 41"/>
          <p:cNvSpPr/>
          <p:nvPr/>
        </p:nvSpPr>
        <p:spPr>
          <a:xfrm>
            <a:off x="6355080" y="5239512"/>
            <a:ext cx="52852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architecture patterns are feasible: multi-tenant isolation, event-driven pipeline, human-review gate, consent opt-out, CDC read model, idempotent ingestion — all running together on one docker compose up.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209662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Running the POC Demo — Quick Start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you need to run the full stack locally in 3 steps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577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4864" cy="1554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2070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 — START THE BACKEND STACK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640080" y="1463040"/>
            <a:ext cx="5212080" cy="10972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150876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CLP/backend/infra</a:t>
            </a:r>
            <a:endParaRPr lang="en-US" sz="1000"/>
          </a:p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 --build</a:t>
            </a:r>
            <a:endParaRPr lang="en-US" sz="1000"/>
          </a:p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Wait for all 6 services to report UP</a:t>
            </a:r>
            <a:endParaRPr lang="en-US" sz="1000"/>
          </a:p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Health: localhost:808{1..6}/actuator/health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54864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" y="285292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 — SEED DEMO DATA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5212080" cy="96012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1546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CLP/backend</a:t>
            </a:r>
            <a:endParaRPr lang="en-US" sz="1000"/>
          </a:p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infra/seed.mjs</a:t>
            </a:r>
            <a:endParaRPr lang="en-US" sz="1000"/>
          </a:p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Creates employees + ingest batches</a:t>
            </a:r>
            <a:endParaRPr lang="en-US" sz="1000"/>
          </a:p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 tenant: tenant_acme_corp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457200" y="4251960"/>
            <a:ext cx="5577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4251960"/>
            <a:ext cx="54864" cy="1554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" y="436168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 — START THE FRONTEND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640080" y="4617720"/>
            <a:ext cx="5212080" cy="10972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46634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BBF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CLP/ld-insights</a:t>
            </a:r>
            <a:endParaRPr lang="en-US" sz="1000"/>
          </a:p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BBF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000"/>
          </a:p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BBF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000"/>
          </a:p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BBF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 http://localhost:5173</a:t>
            </a:r>
            <a:endParaRPr lang="en-US" sz="1000"/>
          </a:p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BBF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Login: Acme Corp + LD_ADMIN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6172200" y="1097280"/>
            <a:ext cx="55778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72200" y="1097280"/>
            <a:ext cx="54864" cy="36576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36792" y="12070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PAGES AVAILABLE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6355080" y="1554480"/>
            <a:ext cx="521208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92240" y="15544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9006840" y="15544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6355080" y="1847088"/>
            <a:ext cx="521208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92240" y="184708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Dashboard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9006840" y="184708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6492240" y="217627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At-Risk Monitor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9006840" y="217627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/at-risk</a:t>
            </a:r>
            <a:endParaRPr lang="en-US" sz="1000"/>
          </a:p>
        </p:txBody>
      </p:sp>
      <p:sp>
        <p:nvSpPr>
          <p:cNvPr id="32" name="Shape 30"/>
          <p:cNvSpPr/>
          <p:nvPr/>
        </p:nvSpPr>
        <p:spPr>
          <a:xfrm>
            <a:off x="6355080" y="2505456"/>
            <a:ext cx="521208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92240" y="250545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Employee Profile</a:t>
            </a:r>
            <a:endParaRPr lang="en-US" sz="1000"/>
          </a:p>
        </p:txBody>
      </p:sp>
      <p:sp>
        <p:nvSpPr>
          <p:cNvPr id="34" name="Text 32"/>
          <p:cNvSpPr/>
          <p:nvPr/>
        </p:nvSpPr>
        <p:spPr>
          <a:xfrm>
            <a:off x="9006840" y="250545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/employees/:id</a:t>
            </a:r>
            <a:endParaRPr lang="en-US" sz="1000"/>
          </a:p>
        </p:txBody>
      </p:sp>
      <p:sp>
        <p:nvSpPr>
          <p:cNvPr id="35" name="Text 33"/>
          <p:cNvSpPr/>
          <p:nvPr/>
        </p:nvSpPr>
        <p:spPr>
          <a:xfrm>
            <a:off x="6492240" y="28346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Interventions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9006840" y="28346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/interventions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6355080" y="3163824"/>
            <a:ext cx="521208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9224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Session Planner</a:t>
            </a:r>
            <a:endParaRPr lang="en-US" sz="1000"/>
          </a:p>
        </p:txBody>
      </p:sp>
      <p:sp>
        <p:nvSpPr>
          <p:cNvPr id="39" name="Text 37"/>
          <p:cNvSpPr/>
          <p:nvPr/>
        </p:nvSpPr>
        <p:spPr>
          <a:xfrm>
            <a:off x="900684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/sessions</a:t>
            </a:r>
            <a:endParaRPr lang="en-US" sz="1000"/>
          </a:p>
        </p:txBody>
      </p:sp>
      <p:sp>
        <p:nvSpPr>
          <p:cNvPr id="40" name="Text 38"/>
          <p:cNvSpPr/>
          <p:nvPr/>
        </p:nvSpPr>
        <p:spPr>
          <a:xfrm>
            <a:off x="6492240" y="34930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Reporting</a:t>
            </a:r>
            <a:endParaRPr lang="en-US" sz="1000"/>
          </a:p>
        </p:txBody>
      </p:sp>
      <p:sp>
        <p:nvSpPr>
          <p:cNvPr id="41" name="Text 39"/>
          <p:cNvSpPr/>
          <p:nvPr/>
        </p:nvSpPr>
        <p:spPr>
          <a:xfrm>
            <a:off x="9006840" y="34930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/reporting</a:t>
            </a:r>
            <a:endParaRPr lang="en-US" sz="1000"/>
          </a:p>
        </p:txBody>
      </p:sp>
      <p:sp>
        <p:nvSpPr>
          <p:cNvPr id="42" name="Shape 40"/>
          <p:cNvSpPr/>
          <p:nvPr/>
        </p:nvSpPr>
        <p:spPr>
          <a:xfrm>
            <a:off x="6355080" y="3822192"/>
            <a:ext cx="521208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92240" y="38221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Rules Management</a:t>
            </a:r>
            <a:endParaRPr lang="en-US" sz="1000"/>
          </a:p>
        </p:txBody>
      </p:sp>
      <p:sp>
        <p:nvSpPr>
          <p:cNvPr id="44" name="Text 42"/>
          <p:cNvSpPr/>
          <p:nvPr/>
        </p:nvSpPr>
        <p:spPr>
          <a:xfrm>
            <a:off x="9006840" y="38221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/rules</a:t>
            </a:r>
            <a:endParaRPr lang="en-US" sz="1000"/>
          </a:p>
        </p:txBody>
      </p:sp>
      <p:sp>
        <p:nvSpPr>
          <p:cNvPr id="45" name="Text 43"/>
          <p:cNvSpPr/>
          <p:nvPr/>
        </p:nvSpPr>
        <p:spPr>
          <a:xfrm>
            <a:off x="6492240" y="415137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Settings / Consent</a:t>
            </a:r>
            <a:endParaRPr lang="en-US" sz="1000"/>
          </a:p>
        </p:txBody>
      </p:sp>
      <p:sp>
        <p:nvSpPr>
          <p:cNvPr id="46" name="Text 44"/>
          <p:cNvSpPr/>
          <p:nvPr/>
        </p:nvSpPr>
        <p:spPr>
          <a:xfrm>
            <a:off x="9006840" y="415137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/settings</a:t>
            </a:r>
            <a:endParaRPr lang="en-US" sz="1000"/>
          </a:p>
        </p:txBody>
      </p:sp>
      <p:sp>
        <p:nvSpPr>
          <p:cNvPr id="47" name="Shape 45"/>
          <p:cNvSpPr/>
          <p:nvPr/>
        </p:nvSpPr>
        <p:spPr>
          <a:xfrm>
            <a:off x="6172200" y="4846320"/>
            <a:ext cx="5577840" cy="1280160"/>
          </a:xfrm>
          <a:prstGeom prst="roundRect">
            <a:avLst>
              <a:gd name="adj" fmla="val 5714"/>
            </a:avLst>
          </a:prstGeom>
          <a:solidFill>
            <a:srgbClr val="FEF9C3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336792" y="495604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854D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DEMO TIP</a:t>
            </a:r>
            <a:endParaRPr lang="en-US" sz="1100"/>
          </a:p>
        </p:txBody>
      </p:sp>
      <p:sp>
        <p:nvSpPr>
          <p:cNvPr id="49" name="Text 47"/>
          <p:cNvSpPr/>
          <p:nvPr/>
        </p:nvSpPr>
        <p:spPr>
          <a:xfrm>
            <a:off x="6355080" y="5285232"/>
            <a:ext cx="52852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top-right tenant switcher to show data isolation between Acme Corp (seeded) and Globex Ltd (empty). This proves multi-tenancy in 10 seconds.</a:t>
            </a:r>
            <a:endParaRPr lang="en-US"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286000"/>
            <a:ext cx="12188952" cy="2743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745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</a:t>
            </a:r>
            <a:endParaRPr lang="en-US" sz="560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 &amp; </a:t>
            </a:r>
            <a:r>
              <a:rPr lang="en-US" sz="4000" b="1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</a:t>
            </a:r>
            <a:endParaRPr lang="en-US" sz="4000"/>
          </a:p>
        </p:txBody>
      </p:sp>
      <p:sp>
        <p:nvSpPr>
          <p:cNvPr id="6" name="Text 4"/>
          <p:cNvSpPr/>
          <p:nvPr/>
        </p:nvSpPr>
        <p:spPr>
          <a:xfrm>
            <a:off x="1371600" y="27889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LearnTrack CLP — Turning fragmented L&amp;D data into proactive, compliant, measurable action.</a:t>
            </a:r>
            <a:endParaRPr lang="en-US" sz="140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POC is live. All architecture patterns are proven. Ready for MVP.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745236" y="42976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82396" y="4389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882396" y="46634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LearnTrack</a:t>
            </a: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CLP</a:t>
            </a:r>
            <a:endParaRPr lang="en-US" sz="1100"/>
          </a:p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Multi-tenant SaaS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3488436" y="42976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25596" y="4389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POC STATUS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3625596" y="46634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Services Live</a:t>
            </a:r>
            <a:endParaRPr lang="en-US" sz="1100"/>
          </a:p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· React · Kafka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6231636" y="42976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68796" y="4389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6368796" y="46634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architecture/ directory</a:t>
            </a:r>
            <a:endParaRPr lang="en-US" sz="1100"/>
          </a:p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detailed documents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8974836" y="42976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11996" y="4389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9111996" y="46634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SME Review</a:t>
            </a:r>
            <a:endParaRPr lang="en-US" sz="1100"/>
          </a:p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 Kickoff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 of 18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19</Slides>
  <Notes>17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LearnTrack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LearnTrack CLP — SME Demo &amp; Training Deck</dc:title>
  <dc:subject>PptxGenJS Presentation</dc:subject>
  <dc:creator>LearnTrack CLP</dc:creator>
  <cp:revision>2</cp:revision>
  <dcterms:created xsi:type="dcterms:W3CDTF">2026-06-07T05:29:51Z</dcterms:created>
  <dcterms:modified xsi:type="dcterms:W3CDTF">2026-06-10T12:50:40Z</dcterms:modified>
</cp:coreProperties>
</file>