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LearnTrack CLP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C5FD"/>
                </a:solidFill>
              </a:defRPr>
            </a:pPr>
            <a:r>
              <a:t>Corporate Learning Progress, Intervention &amp; Compliance Tracking System — SME Demo &amp; Training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3657600"/>
            <a:ext cx="2926080" cy="3474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3312" y="3712464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Multi-Tenant SaaS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4256" y="3657600"/>
            <a:ext cx="2926080" cy="3474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3712464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Event-Driven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88352" y="3657600"/>
            <a:ext cx="2926080" cy="3474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61504" y="3712464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GDPR / CCPA / DPDP / PIPEDA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42448" y="3657600"/>
            <a:ext cx="2926080" cy="3474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3712464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AWS · Kubernetes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4096512"/>
            <a:ext cx="2286000" cy="3474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415137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POC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091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Prepared for SME Team · Demo &amp; Training Session · v2.0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Batch 24 Team#4 · Persistent Systems Limited · 7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Merged Architecture Review Deck — Production v2.0 + POC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Production architecture, compliance, deployment, and live POC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84048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48132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4447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Executive Summary &amp; Business Objectives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384048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48132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14447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Problem Statement &amp; Solution 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4028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40280"/>
            <a:ext cx="384048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44144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0487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Production Architecture — 11 Services + Diagrams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24028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240280"/>
            <a:ext cx="384048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244144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40487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POC Architecture — 6 Services &amp;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0040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200400"/>
            <a:ext cx="384048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340156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3649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Data Ownership, Multi-Tenancy &amp; Event Flows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20040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200400"/>
            <a:ext cx="384048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340156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9128" y="33649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Risk Engine, Interventions &amp; Erasure Saga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16052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160520"/>
            <a:ext cx="384048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436168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32511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Compliance, Security &amp; Multi-Region Deployment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16052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160520"/>
            <a:ext cx="384048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8504" y="436168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9128" y="432511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Tech Stack, Plans, SLAs &amp; Delivery Roadmap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12064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120640"/>
            <a:ext cx="384048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532180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2852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POC Demo Walkthrough &amp; Quick-Start Guide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5120640"/>
            <a:ext cx="5577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5120640"/>
            <a:ext cx="384048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18504" y="532180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39128" y="52852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Key Capabilities, Future Scope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Multi-tenant SaaS aggregation, analytics and workflow layer — not a full 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Consolidates attendance, scores and competency milestones from LMS/HRIS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Configurable rule-based risk engine — Critical / High / Medium / Low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Intervention lifecycle with Temporal SLA enforcement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Compliance-ready reports with immutable hash-chained audit trail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Consent management and right-to-erasure across all target regions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AWS primary with cloud-agnostic abstractions (Azure/GCP portable)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2344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Customers: Corporates, Regulated Industries, Training Providers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Tiers: Starter (500) · Pro (5,000) · Enterprise (unlimited)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Automated tenant onboarding in under 5 minutes (Temporal saga)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Human-review gate for automated profiling (GDPR Art.22)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WCAG 2.1 AA accessibility at GA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POC validates core patterns — production v2.0 ready for phased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Business Objectives &amp; Success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Measurable outcomes driving platform design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385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640080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Early at-risk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4–6 weeks before compliance failure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Intervention effectiveness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70% show measurable competency improvement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Training completion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+25% year-over-year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Compliance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100% on-time, accurate regulatory submissions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Tenant onboarding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New organisation live in &lt; 5 minutes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Platform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99.9% (Enterprise) · 99.5% (Pro/Starter)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User adoption per tenant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90% of target users active in first month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Right-to-erasure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Target &lt; 72 hours (regulated max: 30 days)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WCAG 2.1 AA on all user-facing portals at GA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Problem We Are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Why fragmented L&amp;D data is a compliance and business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Fragmented data: LMS, assessments, milestones in separate systems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No single view of employee learning health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Reactive identification — 4–6 weeks too late for remediation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Ad hoc interventions without systematic outcome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2344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Manual compliance report assembly (GDPR, CCPA, DPDP, PIPEDA)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No audit trail for automated profiling decisions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No consent management — legal exposure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Right-to-erasure handled manually across siloed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Cost: Organisations lose remediation time, face regulatory fines, and cannot prove due diligence when employees fail certification.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Solution — What LearnTrack CLP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Lightweight intelligence layer on top of existing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NOT a full LMS — aggregation, analytics and workflow SaaS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Unified curated learning profile per employee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Configurable JSON rule engine for at-risk detection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Full intervention lifecycle with SLA tracking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Compliance-ready reports with full audit trail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Consent, opt-out and erasure built in from day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234440"/>
            <a:ext cx="35661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3075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D4ED8"/>
                </a:solidFill>
              </a:defRPr>
            </a:pPr>
            <a:r>
              <a:t>Earlier at-risk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4–6wk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331720"/>
            <a:ext cx="35661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4048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D4ED8"/>
                </a:solidFill>
              </a:defRPr>
            </a:pPr>
            <a:r>
              <a:t>Intervention improvement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8346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70%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429000"/>
            <a:ext cx="35661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35021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D4ED8"/>
                </a:solidFill>
              </a:defRPr>
            </a:pPr>
            <a:r>
              <a:t>Training completion YoY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931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+25%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Production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11 microservices — edge, BFF, platform, domain, messaging and data layers</a:t>
            </a:r>
          </a:p>
        </p:txBody>
      </p:sp>
      <p:pic>
        <p:nvPicPr>
          <p:cNvPr id="6" name="Picture 5" descr="01_high_lev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11155680" cy="5204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Source: architecture/01-architecture.md — each service owns its database; cross-service via Kafka or REST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Microservices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Service responsibilities and database ownership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3856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309360"/>
                <a:gridCol w="320040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Tenant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Onboarding, billing, feature flags, Temporal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tenant-db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Auth / 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OAuth2, JWT/JWKS, SSO/SAML, RBAC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auth-db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Raw staging only — idempotent REST/CSV ingest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ingestion-db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Employee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Curated profiles from data.ingested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profile-db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Risk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Rule execution, classification, human-review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risk-db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Rule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Rule CRUD, versioning, test sandbox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rules-db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Intervention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Temporal workflow — sessions, outcomes,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intervention-db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CDC-fed CQRS read model, compliance exports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reporting-db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Consent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Per-purpose consent, opt-out, erasure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consent-db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Notification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Email, SMS, in-app, WebSocket — stateless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Hash-chained immutable log, S3 WORM 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audit-db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POC vs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Prototype validates patterns; production extends scope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3856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80560"/>
                <a:gridCol w="484632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POC (Live Today)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Production Target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6 domain services (8081–8086)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11 services + BFF + platform layer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Event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Outbox + poller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Debezium CDC (exactly-once)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In-service state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Temporal OSS sagas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Dev HS256 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Kong + JWKS + SSO/SAML (Enterprise)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Single PostgreSQL, schema-per-service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DB-per-service; tier-based isolation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Gateway /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Direct service 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Kong + CloudFront + WAF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Actuator health 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Full OTel stack (Prometheus, Tempo, Loki)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POC Architecture — 6 Microservices (Live)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Spring Boot + React + Kafka — running via docker compose up</a:t>
            </a:r>
          </a:p>
        </p:txBody>
      </p:sp>
      <p:pic>
        <p:nvPicPr>
          <p:cNvPr id="6" name="Picture 5" descr="10_poc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132320" cy="19857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344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Ingestion :8081 — validate &amp; stage raw data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Profile :8082 — aggregate learning metrics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Risk Engine :8083 — rule execution + human-review gate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Intervention :8084 — state machine lifecycle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Consent :8085 — opt-out &amp; erasure triggers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Reporting :8086 — CDC read model from Kafka events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React frontend: ld-insights (8 pages)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Multi-tenant: Acme Corp (seeded) vs Globex (empty)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POC simplifications: outbox poller (not Debezium), in-service state machine (not Temporal), dev JWT (not Kong/JWKS)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Data Ownership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Critical rule — no cross-service database reads</a:t>
            </a:r>
          </a:p>
        </p:txBody>
      </p:sp>
      <p:pic>
        <p:nvPicPr>
          <p:cNvPr id="6" name="Picture 5" descr="02_data_owner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132320" cy="8600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344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ingestion-db: raw staging ONLY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profile-db: curated read model ONLY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Built exclusively from data.ingested events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Reporting consumes via CDC — no dual-write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PII classification drives encryption &amp; erasure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Rule: Neither Ingestion nor Profile reads the other's DB. Data flows only via Kafka 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Multi-Tenant Isolation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Isolation depth scales with subscription tier</a:t>
            </a:r>
          </a:p>
        </p:txBody>
      </p:sp>
      <p:pic>
        <p:nvPicPr>
          <p:cNvPr id="6" name="Picture 5" descr="04_tenant_is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132320" cy="37076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344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Starter: PostgreSQL RLS + shared everything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Pro: schema-per-tenant + shared Kafka partitioned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Enterprise: dedicated DB + namespace + Kafka topics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Redis keyspace always prefixed: {entity}:{tenant_id}:…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KMS: shared DEK (Starter) → dedicated DEK + alias (Enterprise)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Core Value Chain — End-to-End Event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Raw training data flows automatically to insights and action</a:t>
            </a:r>
          </a:p>
        </p:txBody>
      </p:sp>
      <p:pic>
        <p:nvPicPr>
          <p:cNvPr id="6" name="Picture 5" descr="03_event_value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11155680" cy="1901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All events carry tenant_id; consumers MUST filter before processing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Microservice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Hybrid model — async for domain fan-out, sync for cache-backed lookups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3856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402336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Path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Client → Gateway →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HTTPS 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Synchronous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Ingestion →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Kafka: data.ingested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Asynchronous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Profile → Risk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Kafka: profile.updated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Asynchronous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Risk → Intervention/Notification/Reporting/Audit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Kafka: risk.*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Asynchronous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Risk Engine → Rule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REST GET (Redis cache 5 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Synchronous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Any Service → Tenant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Redis cache / TMS 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Synchronous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Service-to-service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mTLS via Istio 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Synchronous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Reliable Event Delivery — Outbox + DLQ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Transactional outbox + Debezium CDC for exactly-once delivery</a:t>
            </a:r>
          </a:p>
        </p:txBody>
      </p:sp>
      <p:pic>
        <p:nvPicPr>
          <p:cNvPr id="6" name="Picture 5" descr="06_outbox_dl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132320" cy="35166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344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Domain write + outbox INSERT in same DB transaction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Debezium polls committed outbox rows → Kafka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Retry topics with exponential backoff (3 attempts)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Confluent Schema Registry — Protobuf, FULL compatibility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Standard envelope: event_id, event_type, tenant_id, payload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DLQ naming: dlq.{service}.{event-type} — PagerDuty alert if depth &gt; 0 within 5 minutes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Tenant Provisioning — Temporal Saga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8-step durable workflow with compensation on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46E5"/>
                </a:solidFill>
              </a:defRPr>
            </a:pPr>
            <a:r>
              <a:t>Validate → Create tenant → Provision DB → Migrations → Seed rules → Seed templates → Create admin → Publish → Welcome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Estimated completion: &lt; 5 minutes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Partial failure triggers compensation rollback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DPA acceptance required before data ingestion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data_region pinned at onboarding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Plan upgrade also runs as Temporal saga (~30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Enterprise upgrade: dedicated DB + K8s namespace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Stripe billing integration on completion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All services refresh tenant context cache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Regions: EU (eu-west-1), India (ap-south-1), US, Canada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SSO/SAML flow for Enterprise tenants (Azure AD, Okta)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Employee Risk Detection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Configurable rules with human-review gate for CRITICAL and HIGH (GDPR Art.22)</a:t>
            </a:r>
          </a:p>
        </p:txBody>
      </p:sp>
      <p:pic>
        <p:nvPicPr>
          <p:cNvPr id="6" name="Picture 5" descr="07_risk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11155680" cy="264517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risk_profiling_opt_out = true → skip assessment entirely; log suppression to audit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Risk Engine &amp; Human-Review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Rule-based classification with mandatory human oversight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4389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</a:tblGrid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85+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65–84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40–64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&lt; 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20640" y="1234440"/>
            <a:ext cx="6583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CRITICAL/HIGH → requiresHumanReview = true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Employee NOT notified until Trainer/L&amp;D Manager reviews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Actions: Confirm · Override · Dismiss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48-hour SLA — Temporal escalates to L&amp;D Admin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L&amp;D Admins: create rules via UI → test → activate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Redis cache invalidated on rule activation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74151"/>
                </a:solidFill>
              </a:defRPr>
            </a:pPr>
            <a:r>
              <a:t>Sample rule:</a:t>
            </a:r>
            <a:br/>
            <a:r>
              <a:t>{ "operator": "AND",</a:t>
            </a:r>
            <a:br/>
            <a:r>
              <a:t>  "criteria": [</a:t>
            </a:r>
            <a:br/>
            <a:r>
              <a:t>    { "metric": "training_attendance_percentage", "operator": "less_than", "value": 80 },</a:t>
            </a:r>
            <a:br/>
            <a:r>
              <a:t>    { "metric": "competency_average_score", "operator": "less_than", "value": 65 }</a:t>
            </a:r>
            <a:br/>
            <a:r>
              <a:t>  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Intervention Lifecycle —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Temporal-backed workflow with 48-hour SLA enforcement</a:t>
            </a:r>
          </a:p>
        </p:txBody>
      </p:sp>
      <p:pic>
        <p:nvPicPr>
          <p:cNvPr id="6" name="Picture 5" descr="08_intervention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132320" cy="114647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344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Trainer: create, log sessions, mark complete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L&amp;D Manager: approve/reject, review escalations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Pre/post scores → automatic improvement %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intervention.completed → Risk Engine re-evaluates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intervention.escalated → L&amp;D Admin alert on SLA breach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Types: Remedial Training · 1:1 Coaching · Group Mentoring · Self-paced Module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Right-to-Erasure Saga — Temporal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GDPR Art.17 · CCPA right-to-delete · DPDP erasure — target completion 72 hours</a:t>
            </a:r>
          </a:p>
        </p:txBody>
      </p:sp>
      <p:pic>
        <p:nvPicPr>
          <p:cNvPr id="6" name="Picture 5" descr="09_erasure_sa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11155680" cy="40988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Audit log entries retained but de-linked; signed deletion certificate emailed to employee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Consent Management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Built-in privacy compliance across GDPR, CCPA, DPDP and PIPEDA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120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EU/UK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344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GDPR, UK GDPR, EAA (WCAG 2.1 AA)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56232"/>
            <a:ext cx="5120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United 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965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SOC 2 Type II, CCPA/CPRA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78024"/>
            <a:ext cx="5120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877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Canada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5877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PIPEDA, Québec Law 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99816"/>
            <a:ext cx="51206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95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India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20954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DPDP Act 2023 — residency ap-south-1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23444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Consent purposes: risk_profiling, benchmarking, ml_scoring, trainer_notes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Employee withdraws consent → consent.withdrawn event → Risk Engine skips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Reports pseudonymise opted-out employees (REDACTED-…)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Immutable hash-chained audit log — S3 Object Lock (WORM)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DPA required before employee data ingestion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Per-employee erasure and portability API (all regions)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Defence in depth — edge to data at rest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3856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05256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AWS WAF (OWASP), Shield Standard, CloudFront, TLS 1.3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API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JWKS-local JWT validation, per-tenant rate limiting, Unleash feature flags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Service 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Istio mTLS STRICT, circuit breakers (5 errors), 3 retries, 10s timeout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RLS/schema isolation, pgaudit SQL audit extension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Data at 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AES-256; envelope encryption for PII (Vault DEK + AWS KMS)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Secrets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HashiCorp Vault per-tenant namespace — no secrets in ConfigMaps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Deployment &amp; Multi-Region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AWS primary — compliance-driven data residency pinning</a:t>
            </a:r>
          </a:p>
        </p:txBody>
      </p:sp>
      <p:pic>
        <p:nvPicPr>
          <p:cNvPr id="6" name="Picture 5" descr="05_deployment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132320" cy="725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344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Namespaces: learntrack-platform · learntrack-shared · tenant-{id}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Self-hosted K8s: Kong, Temporal, Unleash, Vault, Grafana stack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Managed AWS: EKS, MSK, ElastiCache, RDS, SES, S3, WAF, KMS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GitOps: GitHub Actions + ArgoCD (dev → prod)</a:t>
            </a:r>
          </a:p>
          <a:p>
            <a:pPr>
              <a:spcAft>
                <a:spcPts val="500"/>
              </a:spcAft>
              <a:defRPr sz="1000">
                <a:solidFill>
                  <a:srgbClr val="374151"/>
                </a:solidFill>
              </a:defRPr>
            </a:pPr>
            <a:r>
              <a:t>DR: us-west-2 warm standby + cross-region read replica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EU and India tenants: cross-region Kafka replication DISABLED — data stays in home region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Observability &amp; Operational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Unified OpenTelemetry — per-tenant tagged metrics, traces and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Metrics: OTel Collector → Prometheus → Grafana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Traces: OTel → Grafana Tempo (distributed tracing)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Logs: OTel → Grafana Loki (tenant-tagged structured)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Errors: Sentry — code-level errors and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2344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DLQ depth &gt; 0 → PagerDuty alert within 5 minutes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Backups: pgBackRest (PostgreSQL WAL) + Velero (K8s)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Istio: 5 consecutive errors → circuit open; 30s half-open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FinOps: cost-per-tenant monitoring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User Roles &amp;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Role-based access — Platform Admin through Employee self-service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385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05256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Capabilities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Platform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All organisations, platform health (OTel), Stripe billing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L&amp;D Administrator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Org KPIs, rules, reports, consent disclosures, user management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Trainer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Team at-risk, human-review queue, interventions, session logging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L&amp;D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Intervention approval, escalation queue, effectiveness summary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Own profile, consent preferences, erasure request, interventions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Accessibility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WCAG 2.1 AA baseline for all user-facing portals at GA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3856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22376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WCAG 2.1 Level 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All web content — EU, UK, US, Canada, India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European Accessibility Act (EAA)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EU market access — EN 301 549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Section 508 / 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US federal and case-law SaaS obligations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Keyboard navigation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Tab / Shift+Tab / Enter / Space / Arrow keys on all controls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Risk indicators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Colour + icon + text — never colour alone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Screen readers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aria-live regions for at-risk alerts; aria-describedby on form errors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Contrast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Minimum 4.5:1 normal text · 3:1 large text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Cloud-agnostic design — AWS primary, portable to Azure/GCP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Backend: Spring Boot 3 / Java 21  |  Frontend: React 18 + TypeScript + Vite + shadcn/ui + Tailwind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184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Workflow: Temporal OSS  |  Event Bus: Kafka (MSK) + Protobuf + Confluent Schema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25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CDC: Debezium + Outbox  |  Cache: Redis 7  |  DB: PostgreSQL 16+ (JSONB rules)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8658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Gateway: Kong OSS  |  Mesh: Istio  |  Secrets: Vault + AWS KMS envelope encryption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706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Observability: OpenTelemetry → Prometheus/Grafana/Tempo/Loki  |  CI/CD: GitHub Actions + ArgoCD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Billing: Stripe  |  Email: SES  |  Storage: S3 Object Lock  |  Flags: Unleash  |  Errors: Sentry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AWS EKS · S3 Object Lock · Amazon SES · Schema Registry · Unleash · Sentry · Stripe · pgBackRest · Velero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Subscription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Three tiers — isolation depth and features scale with organisation size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385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2926080"/>
                <a:gridCol w="310896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Starter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Max employees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DB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Row-level (RLS)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Schema-per-tenant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Dedicated DB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K8s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Shared namespace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Shared namespace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Dedicated namespace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Custom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Notifications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Email+SMS+In-app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All + WebSocket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Employee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SSO / SAML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API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Rate-limited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Dedicated quota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99.5%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99.5%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99.9%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3A5F"/>
                </a:solidFill>
              </a:defRPr>
            </a:pPr>
            <a:r>
              <a:t>All plans include: consent management · right-to-erasure API · WCAG 2.1 AA · immutable audit trail · human-review gate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Performance &amp; SLA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Production-grade targets for enterprise-scale regulated workloads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10312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API 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&lt; 200 ms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Dashboard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&lt; 2 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Profile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&lt; 500 ms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Risk batch (1K emp)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&lt; 2 min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Report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&lt; 30 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Tenant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&lt; 5 min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Training sync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74151"/>
                          </a:solidFill>
                        </a:defRPr>
                      </a:pPr>
                      <a:r>
                        <a:t>&lt; 1 hour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123444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Erasure target: 72 hours (regulated max: 30 days)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Availability: 99.9% Enterprise · 99.5% Pro/Starter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DLQ alert: PagerDuty within 5 minutes if depth &gt; 0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Tenant context resolution (cached): &lt; 5 ms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Report generation endpoint timeout: 60 s (Istio)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Delivery Roadmap — 20 Weeks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Five phases from foundation to compliance go-live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011680" cy="4754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Phase 1 · Weeks 1–4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325880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Foundation: Temporal provisioning, Auth/JWKS, DB isolation, Kafka+outbox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01368"/>
            <a:ext cx="2011680" cy="4754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928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Phase 2 · Weeks 5–8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892808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Core: Ingestion adapters, Profile Service, Risk Engine, Rule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68296"/>
            <a:ext cx="2011680" cy="4754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5973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Phase 3 · Weeks 9–12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459736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Workflows: Intervention (Temporal), Consent, Notification, human-review gate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35224"/>
            <a:ext cx="2011680" cy="4754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2666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Phase 4 · Weeks 13–16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026664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Compliance: CDC Reporting, Audit (hash-chained), role-based dashboards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02152"/>
            <a:ext cx="2011680" cy="4754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935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Phase 5 · Weeks 17–20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593592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Go-live: Erasure saga, regional compliance, WCAG 2.1 AA, load/pen test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POC Validation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Live prototype proves core architecture patterns are feasible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3856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280160"/>
                <a:gridCol w="685800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POC Component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What It Proves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6 Spring Boot microservices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✅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Multi-service decomposition works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React frontend (8 pages)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✅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Role-based dashboards feasible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Full Kafka event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✅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Event-driven value chain end-to-end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Human-review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✅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GDPR Art.22 workflow implementable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Consent opt-out + pseudonymisation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✅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Privacy controls enforceable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Multi-tenant isolation (Acme/Globex)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✅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tenant_id scoping works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docker compose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✅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Single-command local demo stack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POC Demo — Live Stack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6 Spring Boot microservices + React frontend wired over Kafka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47472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544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307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Multi-Tenant Login (RBAC)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5819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Dev-login → Acme Corp + LD_ADMIN. JWT scoped to tenant_acme_corp. Switch to Globex to show isolation.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347472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6974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450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Dashboard — CDC Read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7249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Org compliance 92%, 6 awaiting review, 15 active interventions — Reporting Service consuming Kafka events.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044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347472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8404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593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At-Risk 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8679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6 learners flagged: 1 Critical, 3 High, 2 Medium. Click learner → full learning profile.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663440"/>
            <a:ext cx="347472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49834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736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Human-Review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0109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Confirm / Override / Dismiss Critical assessment. Watch awaiting-review KPI drop in real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234440"/>
            <a:ext cx="55778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1234440"/>
            <a:ext cx="347472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15544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1307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Intervention Lifecycle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15819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Approve Recommended → Active → log sessions → Complete with pre/post scores.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377440"/>
            <a:ext cx="55778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2377440"/>
            <a:ext cx="347472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5352" y="26974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2450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Live Ingestion 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1112" y="27249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Re-run ingest with failing assessment. NEW at-risk learner appears after event propagation.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3520440"/>
            <a:ext cx="55778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3520440"/>
            <a:ext cx="347472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5352" y="38404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1112" y="3593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</a:defRPr>
            </a:pPr>
            <a:r>
              <a:t>Consent Opt-Out + Pseudonymisation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1112" y="38679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Withdraw risk_profiling consent → drops off at-risk list. Report shows REDACTED-… in CSV.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4434840"/>
            <a:ext cx="5577840" cy="7772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45262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6534"/>
                </a:solidFill>
              </a:defRPr>
            </a:pPr>
            <a:r>
              <a:t>✅ What the POC Proves: multi-tenant isolation, event-driven pipeline, human-review gate, consent opt-out, CDC read model, idempotent ingestion — all on one docker compose up.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Running the POC Demo — Quick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Everything you need to run the full stack locally in 3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3035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Step 1 — Start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3C5FD"/>
                </a:solidFill>
              </a:defRPr>
            </a:pPr>
            <a:r>
              <a:t>cd CLP/backend/infra</a:t>
            </a:r>
            <a:br/>
            <a:r>
              <a:t>docker compose up -d --build</a:t>
            </a:r>
            <a:br/>
            <a:r>
              <a:t># Health: localhost:808{1..6}/actuator/health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53035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Step 2 — Seed Demo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6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3C5FD"/>
                </a:solidFill>
              </a:defRPr>
            </a:pPr>
            <a:r>
              <a:t>cd CLP/backend</a:t>
            </a:r>
            <a:br/>
            <a:r>
              <a:t>node infra/seed.mjs</a:t>
            </a:r>
            <a:br/>
            <a:r>
              <a:t># Creates employees for tenant_acme_corp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51960"/>
            <a:ext cx="53035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25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Step 3 — Start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1772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3C5FD"/>
                </a:solidFill>
              </a:defRPr>
            </a:pPr>
            <a:r>
              <a:t>cd CLP/ld-insights</a:t>
            </a:r>
            <a:br/>
            <a:r>
              <a:t>npm install &amp;&amp; npm run dev</a:t>
            </a:r>
            <a:br/>
            <a:r>
              <a:t># Open http://localhost:5173 · Login: Acme Corp + LD_ADMIN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035040" y="1234440"/>
          <a:ext cx="5669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</a:tblGrid>
              <a:tr h="3251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Page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/dashboard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At-Risk 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/at-risk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Employee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/employees/:id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Interventions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/interventions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Session Planner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/sessions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/reporting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Rules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/rules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Settings / Consent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/settings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035040" y="4343400"/>
            <a:ext cx="5669280" cy="77724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4348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350F"/>
                </a:solidFill>
              </a:defRPr>
            </a:pPr>
            <a:r>
              <a:t>💡 Demo Tip: Use tenant switcher to show Acme Corp (seeded) vs Globex Ltd (empty) — proves multi-tenancy in 10 seconds.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Key Capabilities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Production platform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Multi-source ingestion (REST + CSV) from any LMS/HRIS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Curated profiles: attendance %, scores, trends, milestones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Configurable JSON rule engine (5 to unlimited by plan)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CDC-fed reporting — always fresh, zero polling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Temporal sagas: provisioning, intervention, erasure, plan upgrade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Real-time notifications: WebSocket/SSE for at-risk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2344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GDPR Art.22 human-review gate on automated profiling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Per-purpose consent with full audit history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Right-to-erasure — 72hr target, signed certificate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Row/schema/dedicated DB isolation by plan tier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Data residency pinning (EU, India, US, Canada)</a:t>
            </a:r>
          </a:p>
          <a:p>
            <a:pPr>
              <a:spcAft>
                <a:spcPts val="500"/>
              </a:spcAft>
              <a:defRPr sz="1100">
                <a:solidFill>
                  <a:srgbClr val="374151"/>
                </a:solidFill>
              </a:defRPr>
            </a:pPr>
            <a:r>
              <a:t>White-label branding + SSO/SAML (Enterprise)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Future Scope (Post GA)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</a:defRPr>
            </a:pPr>
            <a:r>
              <a:t>Prioritised enhancements beyond MVP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3856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46888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When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E-signature (21 CFR Part 11) — DocuSign/Adobe 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Pharma tenants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Developer Portal (Stoplight) — public API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Pro/Enterprise API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ClickHouse OLAP — cross-tenant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Benchmarking feature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ML Risk Scoring (MLflow + Feast feature store)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Enterprise tier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Amazon OpenSearch — advanced employee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Scale threshold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Cross-tenant anonymised 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74151"/>
                          </a:solidFill>
                        </a:defRPr>
                      </a:pPr>
                      <a:r>
                        <a:t>Requires benchmarking consent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Thank You &amp;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3C5FD"/>
                </a:solidFill>
              </a:defRPr>
            </a:pPr>
            <a:r>
              <a:t>LearnTrack CLP — Turning fragmented L&amp;D data into proactive, compliant, measurable action.</a:t>
            </a:r>
            <a:br/>
            <a:r>
              <a:t>POC is live. Production architecture v2.0 is ready for phased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4160520"/>
            <a:ext cx="3520440" cy="1143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793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FDBFE"/>
                </a:solidFill>
              </a:defRPr>
            </a:pPr>
            <a: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Batch 24 Team#4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4160520"/>
            <a:ext cx="3520440" cy="1143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42793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FDBFE"/>
                </a:solidFill>
              </a:defRPr>
            </a:pPr>
            <a:r>
              <a:t>Organisation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46177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Persistent Systems Limited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4160520"/>
            <a:ext cx="3520440" cy="1143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2793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FDBFE"/>
                </a:solidFill>
              </a:defRPr>
            </a:pPr>
            <a:r>
              <a:t>Architecture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6177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architecture/ — 11 documents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486400"/>
            <a:ext cx="3520440" cy="1143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0527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FDBFE"/>
                </a:solidFill>
              </a:defRPr>
            </a:pPr>
            <a:r>
              <a:t>POC Demo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LearnTrack_CLP_Presentation.html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5486400"/>
            <a:ext cx="3520440" cy="1143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560527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FDBFE"/>
                </a:solidFill>
              </a:defRPr>
            </a:pPr>
            <a:r>
              <a:t>Diagram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594360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presentation_assets/diagrams/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5486400"/>
            <a:ext cx="3520440" cy="1143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560527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FDBFE"/>
                </a:solidFill>
              </a:defRPr>
            </a:pPr>
            <a:r>
              <a:t>Next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94360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Review → feedback → Phase 1 kickoff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7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