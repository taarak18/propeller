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LearnTrack CLP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3C5FD"/>
                </a:solidFill>
              </a:defRPr>
            </a:pPr>
            <a:r>
              <a:t>Corporate Learning Progress, Intervention &amp; Compliance Tracking System</a:t>
            </a:r>
            <a:br/>
            <a:r>
              <a:t>SME Demo &amp; Training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</a:defRPr>
            </a:pPr>
            <a:r>
              <a:t>Architecture Proposal for Project Owners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Batch 24 Team#4  ·  Persistent Systems Limited  ·  7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Production Architecture v2.0  ·  Validated by Live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Purpose of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What we are asking project owners to take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Understand the full production architecture — not just the demo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See how the POC de-risks the hardest technical and compliance paths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Confirm the phased 20-week delivery approach is credible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Align on scope, boundaries, and what 'done' looks like at GA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411480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371600"/>
            <a:ext cx="73152" cy="2011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813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Architect's recommendation:</a:t>
            </a:r>
            <a:br/>
            <a:r>
              <a:t>Proceed to Phase 1. The POC has proven the core domain model, event pipeline, and compliance gates. Remaining work is platform hardening — not unknown R&amp;D.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657600"/>
            <a:ext cx="41148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3657600"/>
            <a:ext cx="73152" cy="1828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767328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LearnTrack is an intelligence layer on top of existing LMS/HRIS systems — not a replacement LMS.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Executive Summary — Problem, Platform,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One view of why we are building this and why we can deliver it</a:t>
            </a:r>
          </a:p>
        </p:txBody>
      </p:sp>
      <p:pic>
        <p:nvPicPr>
          <p:cNvPr id="6" name="Picture 5" descr="11_proposal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36903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POC validates the domain path; production adds platform services, gateway, Temporal, and regional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Business Context &amp;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Why organisations need this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Learning data is scattered across LMS, assessments, and spreadsheets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At-risk employees are found only after compliance failure — 4–6 weeks too late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Interventions are ad hoc with no measurable outcomes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Compliance reports are assembled manually with no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1430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No consent management for automated profiling (GDPR, CCPA, DPDP, PIPEDA)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Right-to-erasure requests handled manually across siloed systems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Regulated industries cannot prove due diligence on training compliance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L&amp;D teams lack a single actionable view of employee learning 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394960"/>
            <a:ext cx="1115568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394960"/>
            <a:ext cx="73152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50468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LearnTrack CLP closes this gap with proactive detection, tracked interventions, and audit-ready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We Are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Clear scope boundary for project owners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LearnTrack IS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LearnTrack IS NOT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Aggregation &amp; analytics layer on LMS/HRIS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 full corporate LMS or course authoring tool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Configurable at-risk detection &amp; intervention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 generic HRIS or payroll system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Multi-tenant SaaS with compliance controls built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 one-off reporting dashboard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Event-driven microservices on AWS (cloud-portable)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 monolithic on-premise application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Target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Success metrics that drive architectural decisions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926080"/>
                <a:gridCol w="47548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 driver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Early at-risk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4–6 weeks before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Event pipeline + rule engine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Intervention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70% measurable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Temporal workflow + outcome tracking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Tenant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&lt; 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Temporal provisioning saga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Platform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99.5–99.9% by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Multi-AZ EKS, Istio, DLQ alerts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Right-to-erasure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&lt; 72 hrs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Cross-service Temporal erasure saga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Accessibility at 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WCAG 2.1 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Design system + ARIA from day 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Production Architecture — The Full Picture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Architectural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Non-negotiable decisions locked for v2.0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8404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1615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Microservices with strict data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904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Each service owns one database. No cross-DB 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47672"/>
            <a:ext cx="38404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122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208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Event-driven domain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9514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Kafka for domain fan-out; REST only for cache-backed lookups.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52344"/>
            <a:ext cx="38404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169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254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Transactional outbox + CDC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99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Exactly-once event delivery via Debezium — no direct Kafka publish.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57016"/>
            <a:ext cx="38404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7216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301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Temporal for multi-step sagas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04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Provisioning, interventions, erasure — durable with compensation.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61688"/>
            <a:ext cx="38404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5262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Compliance by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Human-review gate, consent, opt-out, erasure — not bolted on later.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66360"/>
            <a:ext cx="38404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3309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2395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Multi-tenant isolation by plan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1383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RLS → schema-per-tenant → dedicated DB as customers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Production Architecture — Layered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11 microservices organised across edge, platform, domain, messaging, and data layers</a:t>
            </a:r>
          </a:p>
        </p:txBody>
      </p:sp>
      <p:pic>
        <p:nvPicPr>
          <p:cNvPr id="6" name="Picture 5" descr="01_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520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Every box maps to an independently deployable service with its own database schema or instance.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Service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Three tiers — what each service owns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30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7548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Services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Edge &amp; BFF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CloudFront · WAF · Kong · Web/Mobile BFF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Security, routing, aggregated APIs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Auth · Tenant Mgmt · Notification · Audit · Consent · 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Shared cross-tenant capabilities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Ingestion · Profile · Risk · Rules · Intervention ·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Core L&amp;D business logic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743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Domain tier detail: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063240"/>
          <a:ext cx="11430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943600"/>
                <a:gridCol w="347472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Owns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Raw staging only — idempotent REST/CSV ingest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ingestion-db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Employee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Curated learning profiles built from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profile-db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At-risk classification + human-review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risk-db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Rule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Rule CRUD, versioning, test sandbox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rules-db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Lifecycle workflow, sessions,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intervention-db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CDC-fed read model, compliance exports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reporting-db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Per-purpose consent, opt-out, erasure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consent-db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Data Architecture — Ownership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The most important rule in the system: who owns what data</a:t>
            </a:r>
          </a:p>
        </p:txBody>
      </p:sp>
      <p:pic>
        <p:nvPicPr>
          <p:cNvPr id="6" name="Picture 5" descr="02_data_own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315200" cy="882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14300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Ingestion owns RAW staging only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Profile owns CURATED read model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Neither reads the other's database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All cross-service flow via Kafka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Reporting built from CDC — no dual-write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Business 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How data flows from external systems to actionable L&amp;D insights</a:t>
            </a:r>
          </a:p>
        </p:txBody>
      </p:sp>
      <p:pic>
        <p:nvPicPr>
          <p:cNvPr id="6" name="Picture 5" descr="13_business_valu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1274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Every arrow is a Kafka event with tenant_id — the same chain the POC runs end-to-end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Multi-Tenant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Isolation depth scales with subscription tier — Starter, Pro, Enterprise</a:t>
            </a:r>
          </a:p>
        </p:txBody>
      </p:sp>
      <p:pic>
        <p:nvPicPr>
          <p:cNvPr id="6" name="Picture 5" descr="04_tenant_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57991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Event-Driven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When we use async events vs synchronous REST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8404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Interaction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Ingestion → Profile → Risk → 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Kafka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Loose coupling, fan-out, auditability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Risk Engine → Rule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REST (Redis-cached)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Low-latency rule lookup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All services → Tenant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Redis / TMS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Plan limits, feature flags, schema routing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Client →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HTTPS via Kong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JWT validation, rate limiting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Service-to-service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mTLS via Istio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Zero-trust internal network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Reliable Event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Transactional outbox + Debezium CDC + dead-letter queues</a:t>
            </a:r>
          </a:p>
        </p:txBody>
      </p:sp>
      <p:pic>
        <p:nvPicPr>
          <p:cNvPr id="6" name="Picture 5" descr="06_outbox_dl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5500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DLQ depth &gt; 0 triggers PagerDuty within 5 minutes — no silent message loss.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Workflow Orchestration — Temporal Sagas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Durable multi-step processes with automatic compensation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  <a:gridCol w="29260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POC today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Tenant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Validate → DB → migrations → seed rules → admin user → welcome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Designed — not in POC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Intervention lifecycle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Recommend → approve → sessions → complete → evaluate → SLA 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In-service state machine (proven)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Right-to-erasure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Anonymise across 6 services → audit → signed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Designed — not in POC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Plan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Dedicated DB → migrate → validate → switch → 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Designed — not in POC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Risk Detection &amp; Human-Review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Automated profiling with mandatory human oversight — GDPR Art. 22</a:t>
            </a:r>
          </a:p>
        </p:txBody>
      </p:sp>
      <p:pic>
        <p:nvPicPr>
          <p:cNvPr id="6" name="Picture 5" descr="07_risk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264517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CRITICAL/HIGH assessments require Trainer or L&amp;D Manager review before employee notification.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Intervention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From auto-recommendation to measured outcome</a:t>
            </a:r>
          </a:p>
        </p:txBody>
      </p:sp>
      <p:pic>
        <p:nvPicPr>
          <p:cNvPr id="6" name="Picture 5" descr="08_intervention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1793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48-hour approval SLA enforced by Temporal timer in production; @Scheduled timer in POC.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Right-to-Erasure Saga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Cross-service PII anonymisation — target completion 72 hours</a:t>
            </a:r>
          </a:p>
        </p:txBody>
      </p:sp>
      <p:pic>
        <p:nvPicPr>
          <p:cNvPr id="6" name="Picture 5" descr="09_erasure_sa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40988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Audit log retained but de-linked. Signed deletion certificate issued to employee.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Security &amp; Compliance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Defence in depth across four target regions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54864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Security 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WAF · CloudFront · TLS 1.3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JWKS-local JWT · rate limits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Istio mTLS · circuit breakers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Vault DEK + AWS KMS envelope encryption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Hash-chained log · S3 Object Lock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4300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8288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Regulation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residency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EU/UK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GDPR · EAA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eu-west-1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DPDP Act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ap-south-1 only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SOC 2 · CCPA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us-east-1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PIPEDA · Law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ca-central-1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Deployment &amp; Multi-Region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AWS primary — EKS, MSK, RDS, ElastiCache — with DR warm standby</a:t>
            </a:r>
          </a:p>
        </p:txBody>
      </p:sp>
      <p:pic>
        <p:nvPicPr>
          <p:cNvPr id="6" name="Picture 5" descr="05_deployment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1135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EU and India tenants: cross-region Kafka replication disabled.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POC Validation — Evidence We Can Execute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POC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What we deliberately set out to prove — and what we excluded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 scope (proven)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 of scope (production Phase 1–2)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End-to-end event-driven value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Kong API Gateway + JWKS auth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Multi-tenant data isolation (tenant_id)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Tenant Management + Temporal provisioning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Transactional outbox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Debezium CDC (uses scheduled poller)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Rule engine + human-review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Notification + Audit services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Consent opt-out + report pseudonymisation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Right-to-erasure saga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Intervention state machine + SLA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Multi-region deployment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React dashboard wired to live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OpenTelemetry observability stack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POC Architecture — What Is Running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6 Spring Boot services + React frontend + Kafka — docker compose up</a:t>
            </a:r>
          </a:p>
        </p:txBody>
      </p:sp>
      <p:pic>
        <p:nvPicPr>
          <p:cNvPr id="6" name="Picture 5" descr="10_po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31058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Ports 8081–8086 · PostgreSQL schema-per-service · Redpanda Kafka · seed.mjs demo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POC → Production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Every POC service validates a production domain boundary</a:t>
            </a:r>
          </a:p>
        </p:txBody>
      </p:sp>
      <p:pic>
        <p:nvPicPr>
          <p:cNvPr id="6" name="Picture 5" descr="12_poc_to_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153100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Platform services (Auth, TMS, Notification, Audit) are net-new in Phase 1 — not R&amp;D unknowns.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POC Proof Points — Evidence from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Eight concrete validations backed by running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End-to-end event chain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1556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Ingestion → Profile → Risk → Intervention → Reporting via 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824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Transactional outbox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82496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OutboxPublisher + OutboxPoller in common-lib — same TX as domain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94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9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Multi-tenant isolation enforced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49424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JwtAuthFilter → TenantContext; every query scoped by tenant_id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163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6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Idempotent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1635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Idempotency-Key header; duplicate batches return 200 Already Processed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Rule engine + severity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8328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JSON rules evaluated against profile snapshots; CRITICAL/HIGH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502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GDPR Art.22 human-review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5020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requiresHumanReview=true; employee notification withheld until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171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17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Consent opt-out suppresses profiling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17136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consent.withdrawn → Risk skips assessment; reports pseudonymised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0840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Intervention lifecycle + 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84064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</a:defRPr>
            </a:pPr>
            <a:r>
              <a:t>Auto-create on risk.detected; approve → active → complete; SLA → ESCALATED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POC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What project owners can see live in 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5568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1. Login as Acme Corp LD_ADMIN — switch to Globex to prove tenant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56232"/>
            <a:ext cx="1115568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2. Dashboard KPIs — compliance %, at-risk count, awaiting review (Kafka-fed, not mocked)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69464"/>
            <a:ext cx="1115568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0662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3. At-Risk Monitor — Critical/High/Medium learners with full profile drill-down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82696"/>
            <a:ext cx="1115568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198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4. Human-review gate — Confirm / Override / Dismiss a Critical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95928"/>
            <a:ext cx="1115568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330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5. Intervention — approve Recommended → Active → log sessions → Complete with scores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09160"/>
            <a:ext cx="1115568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46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6. Live ingest — failing assessment creates new at-risk learner through the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22392"/>
            <a:ext cx="1115568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7. Consent opt-out — employee drops off at-risk list; report shows REDACTED in 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989320"/>
            <a:ext cx="731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Quick start: docker compose up → node seed.mjs → npm run dev  |  Frontend: localhost:5173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Honest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What the POC does NOT yet prove — and our mitigation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2120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 if unaddressed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 in production plan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No API Gateway / 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Security, tenant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Phase 1: Kong + JWKS; Enterprise SSO in Phase 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Outbox poller vs Debezium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Event reliability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Phase 1: Debezium CDC — proven OSS pattern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No 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Workflow durability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Phase 1 foundation; intervention saga in Phase 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Single Postgres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Blast radius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Tier-based isolation already designed; Enterprise = dedicated 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No erasure saga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GDPR compliance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Phase 5 go-live blocker — designed in architecture/03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No observability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Operational blindness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Phase 1: OpenTelemetry + Grafana from day one of prod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Delivery Plan &amp; Recommendation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Technology Stack — Locked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No framework churn — Spring Boot 3 + React 18 + Kafka + Temporal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41148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Spring Boot 3 / Java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✓ POC running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React 18 + TypeScript + Vite + shadcn/ui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✓ POC running (JSX today)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Event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Kafka (MSK) + Protobuf + Schema 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✓ Kafka proven; Protobuf Phase 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Temporal 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Designed; Phase 1 deploy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PostgreSQL 16+ per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✓ Schema-per-service proven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Kong OSS + Istio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OpenTelemetry → Grafana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Commercial Model — Subscription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Isolation and features scale with organisation size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926080"/>
                <a:gridCol w="301752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DB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Row-level RLS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Schema-per-tenant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Dedicated DB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Custom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SSO / SAML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99.9%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All tiers include: consent management · erasure API · human-review gate · WCAG 2.1 AA · immutable audit trail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20-Week Delivery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Five phases — POC work counts toward Phase 2 domain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46304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9786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07592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Temporal · Auth/JWKS · Kong · Kafka+Debezium · DB isolation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56232"/>
            <a:ext cx="146304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1109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Weeks 5–8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305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Core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020824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Ingestion adapters · Profile · Risk · Rule Management  ← POC accelerates this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9464"/>
            <a:ext cx="146304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243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Weeks 9–12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437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734056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Intervention (Temporal) · Consent · Notification · human-review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82696"/>
            <a:ext cx="146304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Weeks 13–16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5570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447288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CDC Reporting · Audit (hash-chained) · role-based dashboards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95928"/>
            <a:ext cx="146304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507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Weeks 17–20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702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16052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Erasure saga · regional compliance · WCAG · load/pen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669280"/>
            <a:ext cx="111556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669280"/>
            <a:ext cx="731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77900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POC status: Phase 2 domain services are ~80% complete as working code. Phase 1 platform work is the critical path.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Architect's view of top delivery risks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56692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Temporal/Kong ops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Helm charts + runbooks in Phase 1; POC team owns domain, platform team owns infra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Compliance scope creep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Locked GA regions (US/EU/CA/IN); erasure saga is Phase 5 gate, not optional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Event schema 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Schema Registry + Protobuf FULL compatibility from Phase 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Multi-tenant data leak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POC proven tenant_id scoping; RLS + schema isolation + pen test in Phase 5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Team ramp-up on Kafka/Temporal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POC codebase is living reference; CONTRACTS.md is source of truth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Architect's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Proceed to Phase 1 — platform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The hardest unknowns — domain model, event pipeline, compliance gates — are proven in the POC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Production architecture is fully documented in architecture/ (11 documents, v2.0)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Remaining work is platform hardening and scaling — known patterns, not research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Phase 2 domain services can reuse POC service code as the starting point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20-week timeline is achievable with the POC as an 8-week head start on domain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371600"/>
            <a:ext cx="4389120" cy="4114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371600"/>
            <a:ext cx="73152" cy="411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481328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Ask of project owners:</a:t>
            </a:r>
            <a:br/>
            <a:br/>
            <a:r>
              <a:t>1. Approve Phase 1 kickoff (platform foundation)</a:t>
            </a:r>
            <a:br/>
            <a:br/>
            <a:r>
              <a:t>2. Confirm GA compliance regions: US, EU, Canada, India</a:t>
            </a:r>
            <a:br/>
            <a:br/>
            <a:r>
              <a:t>3. Assign platform infra team for Kong/Temporal/EKS</a:t>
            </a:r>
            <a:br/>
            <a:br/>
            <a:r>
              <a:t>4. Schedule live POC walkthrough with stakeholders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LearnTrack CLP — From proven POC to production-grade</a:t>
            </a:r>
            <a:br/>
            <a:r>
              <a:t>multi-tenant L&amp;D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06240"/>
            <a:ext cx="338328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3159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Batch 24 Team#4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06240"/>
            <a:ext cx="338328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3159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Persistent Systems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206240"/>
            <a:ext cx="338328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43159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4590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7 June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40679"/>
            <a:ext cx="338328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5040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247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architecture/ — 11 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5440679"/>
            <a:ext cx="338328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555040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8247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CLP/backend — docker compose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440679"/>
            <a:ext cx="338328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5550407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This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8247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LearnTrack_CLP_Project_Owner_Proposal.pptx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